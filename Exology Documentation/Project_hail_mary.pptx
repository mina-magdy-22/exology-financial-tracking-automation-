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71" r:id="rId5"/>
    <p:sldId id="258" r:id="rId6"/>
    <p:sldId id="261" r:id="rId7"/>
    <p:sldId id="268" r:id="rId8"/>
    <p:sldId id="270" r:id="rId9"/>
    <p:sldId id="262" r:id="rId10"/>
    <p:sldId id="265" r:id="rId11"/>
  </p:sldIdLst>
  <p:sldSz cx="18288000" cy="10287000"/>
  <p:notesSz cx="6858000" cy="9144000"/>
  <p:embeddedFontLst>
    <p:embeddedFont>
      <p:font typeface="Arabic Typesetting" panose="03020402040406030203" pitchFamily="66" charset="-78"/>
      <p:regular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Medium" panose="00000600000000000000" pitchFamily="2" charset="0"/>
      <p:regular r:id="rId18"/>
      <p:italic r:id="rId19"/>
    </p:embeddedFont>
  </p:embeddedFontLst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AEAE"/>
    <a:srgbClr val="590E1E"/>
    <a:srgbClr val="4C0C1A"/>
    <a:srgbClr val="641022"/>
    <a:srgbClr val="F1E7E7"/>
    <a:srgbClr val="320810"/>
    <a:srgbClr val="1B0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AE3B1-B692-4C75-A060-4E825373CD9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67396-404E-41BF-9AF1-3446ABD7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66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67396-404E-41BF-9AF1-3446ABD764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66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6569683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E01786FC-6D2F-87A1-4B43-4706C0CCB184}"/>
              </a:ext>
            </a:extLst>
          </p:cNvPr>
          <p:cNvSpPr/>
          <p:nvPr/>
        </p:nvSpPr>
        <p:spPr>
          <a:xfrm>
            <a:off x="947886" y="7206258"/>
            <a:ext cx="9534228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100" i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One message. Full financial intelligence.</a:t>
            </a:r>
            <a:endParaRPr lang="en-US" sz="2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20DD6E13-E16C-6030-3EAA-2A1B39F3D82F}"/>
              </a:ext>
            </a:extLst>
          </p:cNvPr>
          <p:cNvSpPr/>
          <p:nvPr/>
        </p:nvSpPr>
        <p:spPr>
          <a:xfrm>
            <a:off x="947887" y="7953822"/>
            <a:ext cx="1423838" cy="508844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92FCCA26-497D-00BE-B3B2-8E53DBEE4463}"/>
              </a:ext>
            </a:extLst>
          </p:cNvPr>
          <p:cNvSpPr/>
          <p:nvPr/>
        </p:nvSpPr>
        <p:spPr>
          <a:xfrm>
            <a:off x="1110258" y="8034932"/>
            <a:ext cx="1099096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TELEGRAM</a:t>
            </a:r>
            <a:endParaRPr lang="en-US" sz="17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06E7C710-8DB4-8493-386A-850B24946E50}"/>
              </a:ext>
            </a:extLst>
          </p:cNvPr>
          <p:cNvSpPr/>
          <p:nvPr/>
        </p:nvSpPr>
        <p:spPr>
          <a:xfrm>
            <a:off x="2507010" y="7944297"/>
            <a:ext cx="774800" cy="527894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C91313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23F3F4CD-2FE3-A2EA-B576-8787F5635E05}"/>
              </a:ext>
            </a:extLst>
          </p:cNvPr>
          <p:cNvSpPr/>
          <p:nvPr/>
        </p:nvSpPr>
        <p:spPr>
          <a:xfrm>
            <a:off x="2678907" y="8034932"/>
            <a:ext cx="431006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D1AEAE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N8N</a:t>
            </a:r>
            <a:endParaRPr lang="en-US" sz="1700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44E0BA6B-BD4C-0C36-3C92-11BD1847C58E}"/>
              </a:ext>
            </a:extLst>
          </p:cNvPr>
          <p:cNvSpPr/>
          <p:nvPr/>
        </p:nvSpPr>
        <p:spPr>
          <a:xfrm>
            <a:off x="3417094" y="7944297"/>
            <a:ext cx="2125116" cy="527894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C91313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B9376D71-18E9-9578-27A2-EF1D977F8509}"/>
              </a:ext>
            </a:extLst>
          </p:cNvPr>
          <p:cNvSpPr/>
          <p:nvPr/>
        </p:nvSpPr>
        <p:spPr>
          <a:xfrm>
            <a:off x="3588990" y="8034932"/>
            <a:ext cx="1781324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D1AEAE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GEMINI 2.5 FLASH</a:t>
            </a:r>
            <a:endParaRPr lang="en-US" sz="1700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9F4CDB7A-E6FA-E26D-5F6F-FFB0D08C81E1}"/>
              </a:ext>
            </a:extLst>
          </p:cNvPr>
          <p:cNvSpPr/>
          <p:nvPr/>
        </p:nvSpPr>
        <p:spPr>
          <a:xfrm>
            <a:off x="5677496" y="7944297"/>
            <a:ext cx="2062608" cy="527894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C91313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24D3889F-C5BA-F985-F196-23BC4287D14F}"/>
              </a:ext>
            </a:extLst>
          </p:cNvPr>
          <p:cNvSpPr/>
          <p:nvPr/>
        </p:nvSpPr>
        <p:spPr>
          <a:xfrm>
            <a:off x="5849392" y="8034932"/>
            <a:ext cx="1718816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D1AEAE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GOOGLE SHEETS</a:t>
            </a:r>
            <a:endParaRPr lang="en-US" sz="1700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7858488F-270F-2B9A-D565-58A30FCC1DEF}"/>
              </a:ext>
            </a:extLst>
          </p:cNvPr>
          <p:cNvSpPr/>
          <p:nvPr/>
        </p:nvSpPr>
        <p:spPr>
          <a:xfrm>
            <a:off x="7875391" y="7944297"/>
            <a:ext cx="1331118" cy="527894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C91313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5BEE2AE8-333B-8378-4A3F-DC5405C50AB3}"/>
              </a:ext>
            </a:extLst>
          </p:cNvPr>
          <p:cNvSpPr/>
          <p:nvPr/>
        </p:nvSpPr>
        <p:spPr>
          <a:xfrm>
            <a:off x="8047287" y="8034932"/>
            <a:ext cx="987326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D1AEAE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POWER BI</a:t>
            </a:r>
            <a:endParaRPr lang="en-US" sz="1700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F053797E-3195-1739-AACD-C0F6563D8040}"/>
              </a:ext>
            </a:extLst>
          </p:cNvPr>
          <p:cNvSpPr/>
          <p:nvPr/>
        </p:nvSpPr>
        <p:spPr>
          <a:xfrm>
            <a:off x="441276" y="647700"/>
            <a:ext cx="7126932" cy="89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000"/>
              </a:lnSpc>
            </a:pPr>
            <a:r>
              <a:rPr lang="en-US" sz="5600" b="1" dirty="0">
                <a:solidFill>
                  <a:srgbClr val="FAEBEB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Exology</a:t>
            </a:r>
            <a:endParaRPr lang="en-US" sz="5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BB66936B-5F8D-02A4-9523-450D9AC048F5}"/>
              </a:ext>
            </a:extLst>
          </p:cNvPr>
          <p:cNvSpPr/>
          <p:nvPr/>
        </p:nvSpPr>
        <p:spPr>
          <a:xfrm>
            <a:off x="441276" y="1944735"/>
            <a:ext cx="9534228" cy="368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600"/>
              </a:lnSpc>
            </a:pPr>
            <a:r>
              <a:rPr lang="en-US" sz="7700" b="1" dirty="0">
                <a:solidFill>
                  <a:srgbClr val="FAEBEB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AI Financial Strategist for SMEs</a:t>
            </a:r>
            <a:endParaRPr lang="en-US" sz="7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2DDAF0-8146-2B6B-A92F-CAA2CD8C1C1D}"/>
              </a:ext>
            </a:extLst>
          </p:cNvPr>
          <p:cNvSpPr txBox="1"/>
          <p:nvPr/>
        </p:nvSpPr>
        <p:spPr>
          <a:xfrm>
            <a:off x="441276" y="4914900"/>
            <a:ext cx="1068392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D1AEA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Prepared by Hail Mary</a:t>
            </a: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Ahmed Shehab</a:t>
            </a:r>
            <a:br>
              <a:rPr lang="en-US" sz="2400" b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400" b="1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Mina Magdy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4152900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267497" y="1028700"/>
            <a:ext cx="9297103" cy="8229600"/>
            <a:chOff x="0" y="0"/>
            <a:chExt cx="1440365" cy="1274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0365" cy="1274980"/>
            </a:xfrm>
            <a:custGeom>
              <a:avLst/>
              <a:gdLst/>
              <a:ahLst/>
              <a:cxnLst/>
              <a:rect l="l" t="t" r="r" b="b"/>
              <a:pathLst>
                <a:path w="1440365" h="1274980">
                  <a:moveTo>
                    <a:pt x="50796" y="0"/>
                  </a:moveTo>
                  <a:lnTo>
                    <a:pt x="1389568" y="0"/>
                  </a:lnTo>
                  <a:cubicBezTo>
                    <a:pt x="1417622" y="0"/>
                    <a:pt x="1440365" y="22742"/>
                    <a:pt x="1440365" y="50796"/>
                  </a:cubicBezTo>
                  <a:lnTo>
                    <a:pt x="1440365" y="1224184"/>
                  </a:lnTo>
                  <a:cubicBezTo>
                    <a:pt x="1440365" y="1237656"/>
                    <a:pt x="1435013" y="1250576"/>
                    <a:pt x="1425487" y="1260103"/>
                  </a:cubicBezTo>
                  <a:cubicBezTo>
                    <a:pt x="1415961" y="1269629"/>
                    <a:pt x="1403040" y="1274980"/>
                    <a:pt x="1389568" y="1274980"/>
                  </a:cubicBezTo>
                  <a:lnTo>
                    <a:pt x="50796" y="1274980"/>
                  </a:lnTo>
                  <a:cubicBezTo>
                    <a:pt x="22742" y="1274980"/>
                    <a:pt x="0" y="1252238"/>
                    <a:pt x="0" y="1224184"/>
                  </a:cubicBezTo>
                  <a:lnTo>
                    <a:pt x="0" y="50796"/>
                  </a:lnTo>
                  <a:cubicBezTo>
                    <a:pt x="0" y="37324"/>
                    <a:pt x="5352" y="24404"/>
                    <a:pt x="14878" y="14878"/>
                  </a:cubicBezTo>
                  <a:cubicBezTo>
                    <a:pt x="24404" y="5352"/>
                    <a:pt x="37324" y="0"/>
                    <a:pt x="50796" y="0"/>
                  </a:cubicBezTo>
                  <a:close/>
                </a:path>
              </a:pathLst>
            </a:custGeom>
            <a:blipFill>
              <a:blip r:embed="rId3"/>
              <a:stretch>
                <a:fillRect t="-34781" b="-34781"/>
              </a:stretch>
            </a:blip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Shape 1">
            <a:extLst>
              <a:ext uri="{FF2B5EF4-FFF2-40B4-BE49-F238E27FC236}">
                <a16:creationId xmlns:a16="http://schemas.microsoft.com/office/drawing/2014/main" id="{149D3D39-6D04-48F1-D6E2-F9C615F7D4E5}"/>
              </a:ext>
            </a:extLst>
          </p:cNvPr>
          <p:cNvSpPr/>
          <p:nvPr/>
        </p:nvSpPr>
        <p:spPr>
          <a:xfrm>
            <a:off x="304801" y="684461"/>
            <a:ext cx="1657350" cy="475208"/>
          </a:xfrm>
          <a:prstGeom prst="roundRect">
            <a:avLst>
              <a:gd name="adj" fmla="val 18192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5826E95-EAEB-7205-5B1C-0D0CCAA0F9EE}"/>
              </a:ext>
            </a:extLst>
          </p:cNvPr>
          <p:cNvSpPr/>
          <p:nvPr/>
        </p:nvSpPr>
        <p:spPr>
          <a:xfrm>
            <a:off x="459136" y="761554"/>
            <a:ext cx="1348680" cy="321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6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THE PROBLEM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AC67AD82-BA59-E5A0-8A73-4CC318D2AF0B}"/>
              </a:ext>
            </a:extLst>
          </p:cNvPr>
          <p:cNvSpPr/>
          <p:nvPr/>
        </p:nvSpPr>
        <p:spPr>
          <a:xfrm>
            <a:off x="304800" y="1257300"/>
            <a:ext cx="9534228" cy="253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sz="5300" b="1" dirty="0">
                <a:solidFill>
                  <a:srgbClr val="FAEBEB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Small Business Owners Suffer From Financial Blindness</a:t>
            </a:r>
            <a:endParaRPr lang="en-US" sz="5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FF4FE047-B5AF-CA38-0C3F-EF9D23636A7C}"/>
              </a:ext>
            </a:extLst>
          </p:cNvPr>
          <p:cNvSpPr/>
          <p:nvPr/>
        </p:nvSpPr>
        <p:spPr>
          <a:xfrm>
            <a:off x="600372" y="4533900"/>
            <a:ext cx="4644926" cy="3131790"/>
          </a:xfrm>
          <a:prstGeom prst="roundRect">
            <a:avLst>
              <a:gd name="adj" fmla="val 3450"/>
            </a:avLst>
          </a:prstGeom>
          <a:solidFill>
            <a:srgbClr val="4C0C1A"/>
          </a:solidFill>
          <a:ln w="4763">
            <a:solidFill>
              <a:srgbClr val="D1AEAE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622A3B6-5B51-5454-00F4-CC6E81974C01}"/>
              </a:ext>
            </a:extLst>
          </p:cNvPr>
          <p:cNvSpPr/>
          <p:nvPr/>
        </p:nvSpPr>
        <p:spPr>
          <a:xfrm>
            <a:off x="867072" y="4800599"/>
            <a:ext cx="4111526" cy="846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01 · Friction in Recording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CF14EDBB-8A87-2317-3939-7C8355D2073A}"/>
              </a:ext>
            </a:extLst>
          </p:cNvPr>
          <p:cNvSpPr/>
          <p:nvPr/>
        </p:nvSpPr>
        <p:spPr>
          <a:xfrm>
            <a:off x="867072" y="5588346"/>
            <a:ext cx="4111526" cy="196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Complex ERPs and spreadsheets lead to skipped entries and lost receipts. Recording feels like a second job.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E769212C-910C-CDD8-421B-F232E276BF1E}"/>
              </a:ext>
            </a:extLst>
          </p:cNvPr>
          <p:cNvSpPr/>
          <p:nvPr/>
        </p:nvSpPr>
        <p:spPr>
          <a:xfrm>
            <a:off x="5489674" y="4533900"/>
            <a:ext cx="4644926" cy="3131790"/>
          </a:xfrm>
          <a:prstGeom prst="roundRect">
            <a:avLst>
              <a:gd name="adj" fmla="val 3450"/>
            </a:avLst>
          </a:prstGeom>
          <a:solidFill>
            <a:srgbClr val="4C0C1A"/>
          </a:solidFill>
          <a:ln w="4763">
            <a:solidFill>
              <a:srgbClr val="D1AEAE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A101FBD-3F1E-4396-BB5B-72028533317A}"/>
              </a:ext>
            </a:extLst>
          </p:cNvPr>
          <p:cNvSpPr/>
          <p:nvPr/>
        </p:nvSpPr>
        <p:spPr>
          <a:xfrm>
            <a:off x="5756374" y="4800599"/>
            <a:ext cx="4111526" cy="846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02 · Reactive Management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295A5573-946B-DA0E-02F3-513B2FFFC956}"/>
              </a:ext>
            </a:extLst>
          </p:cNvPr>
          <p:cNvSpPr/>
          <p:nvPr/>
        </p:nvSpPr>
        <p:spPr>
          <a:xfrm>
            <a:off x="5756374" y="5793433"/>
            <a:ext cx="4111526" cy="120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Owners only discover they're running low on cash after it happens, with no time to adjust.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74484159-85E4-7FDC-B757-F316230AFBC8}"/>
              </a:ext>
            </a:extLst>
          </p:cNvPr>
          <p:cNvSpPr/>
          <p:nvPr/>
        </p:nvSpPr>
        <p:spPr>
          <a:xfrm>
            <a:off x="600371" y="7910065"/>
            <a:ext cx="9534228" cy="1905892"/>
          </a:xfrm>
          <a:prstGeom prst="roundRect">
            <a:avLst>
              <a:gd name="adj" fmla="val 5670"/>
            </a:avLst>
          </a:prstGeom>
          <a:solidFill>
            <a:srgbClr val="4C0C1A"/>
          </a:solidFill>
          <a:ln w="4763">
            <a:solidFill>
              <a:srgbClr val="D1AEAE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F5FFA5A2-D0D4-64F1-ED3F-CBEDF465DDF0}"/>
              </a:ext>
            </a:extLst>
          </p:cNvPr>
          <p:cNvSpPr/>
          <p:nvPr/>
        </p:nvSpPr>
        <p:spPr>
          <a:xfrm>
            <a:off x="867071" y="8176766"/>
            <a:ext cx="4454872" cy="42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03 · Data Literacy Gap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632D3C30-CA24-28B5-121F-CAEE648C1E1A}"/>
              </a:ext>
            </a:extLst>
          </p:cNvPr>
          <p:cNvSpPr/>
          <p:nvPr/>
        </p:nvSpPr>
        <p:spPr>
          <a:xfrm>
            <a:off x="867071" y="8746480"/>
            <a:ext cx="9000828" cy="80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Raw numbers in spreadsheets can't translate into strategic decisions. Data sits idle, unused.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86361-F617-B489-7372-FDF5BEB4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01FDC03-4B41-5C40-5F25-DDC321B3F4DC}"/>
              </a:ext>
            </a:extLst>
          </p:cNvPr>
          <p:cNvSpPr/>
          <p:nvPr/>
        </p:nvSpPr>
        <p:spPr>
          <a:xfrm flipV="1">
            <a:off x="0" y="3427810"/>
            <a:ext cx="13030903" cy="1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62506621-8E2D-C286-4AB2-14B52EC3BA45}"/>
              </a:ext>
            </a:extLst>
          </p:cNvPr>
          <p:cNvSpPr/>
          <p:nvPr/>
        </p:nvSpPr>
        <p:spPr>
          <a:xfrm>
            <a:off x="304800" y="600968"/>
            <a:ext cx="1828800" cy="427732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65F1542-5CA2-55C5-761A-6BD07DDA5FA2}"/>
              </a:ext>
            </a:extLst>
          </p:cNvPr>
          <p:cNvSpPr/>
          <p:nvPr/>
        </p:nvSpPr>
        <p:spPr>
          <a:xfrm>
            <a:off x="467172" y="645169"/>
            <a:ext cx="1080793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THE SOLUTION</a:t>
            </a:r>
            <a:endParaRPr lang="en-US" sz="17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8F9F631-8ED4-930E-5DB6-A9678AE5345F}"/>
              </a:ext>
            </a:extLst>
          </p:cNvPr>
          <p:cNvSpPr/>
          <p:nvPr/>
        </p:nvSpPr>
        <p:spPr>
          <a:xfrm>
            <a:off x="304800" y="1181100"/>
            <a:ext cx="11962697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000"/>
              </a:lnSpc>
            </a:pPr>
            <a:r>
              <a:rPr lang="en-US" sz="5600" dirty="0">
                <a:solidFill>
                  <a:srgbClr val="FAEBEB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One System. Three Layers of Financial Intelligence.</a:t>
            </a:r>
            <a:endParaRPr lang="en-US" sz="5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9CB32A-5B15-15ED-F5BE-5A52F8DF8765}"/>
              </a:ext>
            </a:extLst>
          </p:cNvPr>
          <p:cNvSpPr/>
          <p:nvPr/>
        </p:nvSpPr>
        <p:spPr>
          <a:xfrm>
            <a:off x="13030903" y="-2476500"/>
            <a:ext cx="6096000" cy="7656910"/>
          </a:xfrm>
          <a:prstGeom prst="rect">
            <a:avLst/>
          </a:prstGeom>
          <a:solidFill>
            <a:srgbClr val="4C0C1A"/>
          </a:solidFill>
          <a:ln w="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0850A0E6-784D-9B48-F76A-23E660699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415620">
            <a:off x="12793928" y="-3192430"/>
            <a:ext cx="6934200" cy="9245600"/>
          </a:xfrm>
          <a:prstGeom prst="rect">
            <a:avLst/>
          </a:prstGeom>
        </p:spPr>
      </p:pic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188F5904-5298-F68B-9D6A-A9F0C9488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1" y="3771900"/>
            <a:ext cx="3038178" cy="1877616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69428252-C7D9-A4CD-2ED9-53E741C89BB3}"/>
              </a:ext>
            </a:extLst>
          </p:cNvPr>
          <p:cNvSpPr/>
          <p:nvPr/>
        </p:nvSpPr>
        <p:spPr>
          <a:xfrm>
            <a:off x="762001" y="5987951"/>
            <a:ext cx="4388494" cy="445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8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01 · Smart Recording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2B22454B-22D7-BCB9-A5FB-592DD9B6BB51}"/>
              </a:ext>
            </a:extLst>
          </p:cNvPr>
          <p:cNvSpPr/>
          <p:nvPr/>
        </p:nvSpPr>
        <p:spPr>
          <a:xfrm>
            <a:off x="762000" y="6595617"/>
            <a:ext cx="523845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1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Send a text, voice note, or receipt photo. Gemini AI extracts </a:t>
            </a:r>
            <a:r>
              <a:rPr lang="en-US" sz="21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11 structured financial fields</a:t>
            </a:r>
            <a:r>
              <a:rPr lang="en-US" sz="21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 automatically — in Arabic or English.</a:t>
            </a:r>
            <a:endParaRPr lang="en-US" sz="2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E98C74A2-92B8-CEAE-88D6-1C8FB81E0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775" y="4044702"/>
            <a:ext cx="3038178" cy="1877616"/>
          </a:xfrm>
          <a:prstGeom prst="rect">
            <a:avLst/>
          </a:prstGeom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622805A2-B218-D696-9C85-3BEB33A95BFA}"/>
              </a:ext>
            </a:extLst>
          </p:cNvPr>
          <p:cNvSpPr/>
          <p:nvPr/>
        </p:nvSpPr>
        <p:spPr>
          <a:xfrm>
            <a:off x="6524774" y="6260752"/>
            <a:ext cx="5238452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8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02 · Predictive Forecasting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598E714E-82D1-84FC-1F2F-D19A5422CB34}"/>
              </a:ext>
            </a:extLst>
          </p:cNvPr>
          <p:cNvSpPr/>
          <p:nvPr/>
        </p:nvSpPr>
        <p:spPr>
          <a:xfrm>
            <a:off x="6524774" y="7313713"/>
            <a:ext cx="523845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1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Using 90 days of history, the system projects your cash balance </a:t>
            </a:r>
            <a:r>
              <a:rPr lang="en-US" sz="21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30 days ahead</a:t>
            </a:r>
            <a:r>
              <a:rPr lang="en-US" sz="21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 and alerts you before a cash drought hits.</a:t>
            </a:r>
            <a:endParaRPr lang="en-US" sz="2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15FACA58-F95A-957D-8FFA-D627038CA1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8201" y="5524500"/>
            <a:ext cx="3038178" cy="1877616"/>
          </a:xfrm>
          <a:prstGeom prst="rect">
            <a:avLst/>
          </a:prstGeom>
        </p:spPr>
      </p:pic>
      <p:sp>
        <p:nvSpPr>
          <p:cNvPr id="29" name="Text 7">
            <a:extLst>
              <a:ext uri="{FF2B5EF4-FFF2-40B4-BE49-F238E27FC236}">
                <a16:creationId xmlns:a16="http://schemas.microsoft.com/office/drawing/2014/main" id="{9C73F104-1206-50A0-CE70-86C9483F7559}"/>
              </a:ext>
            </a:extLst>
          </p:cNvPr>
          <p:cNvSpPr/>
          <p:nvPr/>
        </p:nvSpPr>
        <p:spPr>
          <a:xfrm>
            <a:off x="12268200" y="7740551"/>
            <a:ext cx="4289524" cy="445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8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03 · AI Health Score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063AD1AB-5D12-6AFD-57A8-8623F6316973}"/>
              </a:ext>
            </a:extLst>
          </p:cNvPr>
          <p:cNvSpPr/>
          <p:nvPr/>
        </p:nvSpPr>
        <p:spPr>
          <a:xfrm>
            <a:off x="12268200" y="8348217"/>
            <a:ext cx="5238452" cy="1300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1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Every Sunday, Gemini delivers a </a:t>
            </a:r>
            <a:r>
              <a:rPr lang="en-US" sz="21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Health Score</a:t>
            </a:r>
            <a:r>
              <a:rPr lang="en-US" sz="21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 (Healthy / Warning / Critical) plus 3 specific action items.</a:t>
            </a:r>
            <a:endParaRPr lang="en-US" sz="2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1447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10926-F7B0-0FC2-D1BB-2DBB9579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9F9AF3C-7C84-4B41-71E5-ADFF39C0DB30}"/>
              </a:ext>
            </a:extLst>
          </p:cNvPr>
          <p:cNvSpPr/>
          <p:nvPr/>
        </p:nvSpPr>
        <p:spPr>
          <a:xfrm flipV="1">
            <a:off x="0" y="4152900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EBE43FAA-E6B8-5E62-F9F2-D09BBEE35CEA}"/>
              </a:ext>
            </a:extLst>
          </p:cNvPr>
          <p:cNvSpPr/>
          <p:nvPr/>
        </p:nvSpPr>
        <p:spPr>
          <a:xfrm>
            <a:off x="304801" y="684461"/>
            <a:ext cx="1657350" cy="475208"/>
          </a:xfrm>
          <a:prstGeom prst="roundRect">
            <a:avLst>
              <a:gd name="adj" fmla="val 18192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7410528-5076-EFB7-8B97-6A84D0E740A7}"/>
              </a:ext>
            </a:extLst>
          </p:cNvPr>
          <p:cNvSpPr/>
          <p:nvPr/>
        </p:nvSpPr>
        <p:spPr>
          <a:xfrm>
            <a:off x="459136" y="761554"/>
            <a:ext cx="1348680" cy="321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6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GREEN AI</a:t>
            </a:r>
            <a:endParaRPr lang="en-US" sz="1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0869948-2290-BEC4-5686-81BCB262F7A8}"/>
              </a:ext>
            </a:extLst>
          </p:cNvPr>
          <p:cNvSpPr/>
          <p:nvPr/>
        </p:nvSpPr>
        <p:spPr>
          <a:xfrm>
            <a:off x="304800" y="1257300"/>
            <a:ext cx="9534228" cy="253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sz="5300" b="1" dirty="0">
                <a:solidFill>
                  <a:srgbClr val="FAEBEB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Built to Minimize AI Waste. By Design.</a:t>
            </a:r>
            <a:endParaRPr lang="en-US" sz="5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A8CFB61-2AE3-1D99-F233-C52FBD694AEE}"/>
              </a:ext>
            </a:extLst>
          </p:cNvPr>
          <p:cNvSpPr/>
          <p:nvPr/>
        </p:nvSpPr>
        <p:spPr>
          <a:xfrm>
            <a:off x="600372" y="4533900"/>
            <a:ext cx="4644926" cy="3131790"/>
          </a:xfrm>
          <a:prstGeom prst="roundRect">
            <a:avLst>
              <a:gd name="adj" fmla="val 3450"/>
            </a:avLst>
          </a:prstGeom>
          <a:solidFill>
            <a:srgbClr val="4C0C1A"/>
          </a:solidFill>
          <a:ln w="4763">
            <a:solidFill>
              <a:srgbClr val="D1AEAE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5AB70E18-2F3A-386F-96C5-67E7975B33E7}"/>
              </a:ext>
            </a:extLst>
          </p:cNvPr>
          <p:cNvSpPr/>
          <p:nvPr/>
        </p:nvSpPr>
        <p:spPr>
          <a:xfrm>
            <a:off x="867072" y="4800599"/>
            <a:ext cx="4111526" cy="846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01 · Selective AI Usage</a:t>
            </a:r>
            <a:endParaRPr lang="en-US" sz="2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265FAFD2-F47F-684A-0A3C-0DBBE4551D51}"/>
              </a:ext>
            </a:extLst>
          </p:cNvPr>
          <p:cNvSpPr/>
          <p:nvPr/>
        </p:nvSpPr>
        <p:spPr>
          <a:xfrm>
            <a:off x="860541" y="5209228"/>
            <a:ext cx="4111526" cy="243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Gemini is invoked only when true intelligence is required, extraction, OCR, transcription, and weekly analysis. Routing, scheduling, and validation run on n8n at zero AI cost.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C7B9B163-32CF-33F2-0985-90BB9216ADA5}"/>
              </a:ext>
            </a:extLst>
          </p:cNvPr>
          <p:cNvSpPr/>
          <p:nvPr/>
        </p:nvSpPr>
        <p:spPr>
          <a:xfrm>
            <a:off x="5489674" y="4533900"/>
            <a:ext cx="4644926" cy="3131790"/>
          </a:xfrm>
          <a:prstGeom prst="roundRect">
            <a:avLst>
              <a:gd name="adj" fmla="val 3450"/>
            </a:avLst>
          </a:prstGeom>
          <a:solidFill>
            <a:srgbClr val="4C0C1A"/>
          </a:solidFill>
          <a:ln w="4763">
            <a:solidFill>
              <a:srgbClr val="D1AEAE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AC8BA321-E6B9-B22B-9256-46701F7FB4CE}"/>
              </a:ext>
            </a:extLst>
          </p:cNvPr>
          <p:cNvSpPr/>
          <p:nvPr/>
        </p:nvSpPr>
        <p:spPr>
          <a:xfrm>
            <a:off x="5756374" y="4800599"/>
            <a:ext cx="4111526" cy="846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02 · Efficient Routing</a:t>
            </a:r>
            <a:endParaRPr lang="en-US" sz="2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309550F2-7DBD-1367-A604-4F6900C5B3CF}"/>
              </a:ext>
            </a:extLst>
          </p:cNvPr>
          <p:cNvSpPr/>
          <p:nvPr/>
        </p:nvSpPr>
        <p:spPr>
          <a:xfrm>
            <a:off x="5762905" y="5223716"/>
            <a:ext cx="4111526" cy="2329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The Switch node routes text, voice, and photo messages using </a:t>
            </a:r>
            <a:r>
              <a:rPr lang="en-US" sz="2000" dirty="0" err="1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boolean</a:t>
            </a:r>
            <a:r>
              <a:rPr lang="en-US" sz="20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 logic, no LLM call needed. A full AI Agent would burn 2-3 extra calls just to make this decision.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1530E59-BC8D-144C-2813-9554918ABFBA}"/>
              </a:ext>
            </a:extLst>
          </p:cNvPr>
          <p:cNvSpPr/>
          <p:nvPr/>
        </p:nvSpPr>
        <p:spPr>
          <a:xfrm>
            <a:off x="600371" y="7910065"/>
            <a:ext cx="9534228" cy="1905892"/>
          </a:xfrm>
          <a:prstGeom prst="roundRect">
            <a:avLst>
              <a:gd name="adj" fmla="val 5670"/>
            </a:avLst>
          </a:prstGeom>
          <a:solidFill>
            <a:srgbClr val="4C0C1A"/>
          </a:solidFill>
          <a:ln w="4763">
            <a:solidFill>
              <a:srgbClr val="D1AEAE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24E2A1E-3EB0-FBE2-A918-EE02FDDFECE4}"/>
              </a:ext>
            </a:extLst>
          </p:cNvPr>
          <p:cNvSpPr/>
          <p:nvPr/>
        </p:nvSpPr>
        <p:spPr>
          <a:xfrm>
            <a:off x="867071" y="8176766"/>
            <a:ext cx="4454872" cy="42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03 · Structured Output Prompting</a:t>
            </a:r>
            <a:endParaRPr lang="en-US" sz="2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BE32B409-8173-A5FC-12A2-EBE251A3C521}"/>
              </a:ext>
            </a:extLst>
          </p:cNvPr>
          <p:cNvSpPr/>
          <p:nvPr/>
        </p:nvSpPr>
        <p:spPr>
          <a:xfrm>
            <a:off x="859980" y="8599883"/>
            <a:ext cx="9000828" cy="121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Every Gemini prompt requests JSON directly, no paragraphs, no markdown. Result: ~327 tokens per transaction vs ~1,500 with a full AI Agent. An 80% reduction in compute waste.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B40494BF-F027-6E3F-4966-616611E891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15800" y="4800599"/>
            <a:ext cx="4538420" cy="45384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1352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7">
            <a:extLst>
              <a:ext uri="{FF2B5EF4-FFF2-40B4-BE49-F238E27FC236}">
                <a16:creationId xmlns:a16="http://schemas.microsoft.com/office/drawing/2014/main" id="{35B3CE41-FB04-B839-81AB-C8C193B705B6}"/>
              </a:ext>
            </a:extLst>
          </p:cNvPr>
          <p:cNvSpPr/>
          <p:nvPr/>
        </p:nvSpPr>
        <p:spPr>
          <a:xfrm>
            <a:off x="304800" y="5532439"/>
            <a:ext cx="9753600" cy="3131790"/>
          </a:xfrm>
          <a:prstGeom prst="roundRect">
            <a:avLst>
              <a:gd name="adj" fmla="val 3450"/>
            </a:avLst>
          </a:prstGeom>
          <a:solidFill>
            <a:srgbClr val="4C0C1A"/>
          </a:solidFill>
          <a:ln w="4763">
            <a:solidFill>
              <a:srgbClr val="D1AEAE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0" y="5143500"/>
            <a:ext cx="12279636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2279636" y="0"/>
            <a:ext cx="0" cy="1032106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3356138" y="829918"/>
            <a:ext cx="3903162" cy="1113180"/>
            <a:chOff x="0" y="-52354"/>
            <a:chExt cx="1027993" cy="2931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27993" cy="216983"/>
            </a:xfrm>
            <a:custGeom>
              <a:avLst/>
              <a:gdLst/>
              <a:ahLst/>
              <a:cxnLst/>
              <a:rect l="l" t="t" r="r" b="b"/>
              <a:pathLst>
                <a:path w="1027993" h="216983">
                  <a:moveTo>
                    <a:pt x="108492" y="0"/>
                  </a:moveTo>
                  <a:lnTo>
                    <a:pt x="919502" y="0"/>
                  </a:lnTo>
                  <a:cubicBezTo>
                    <a:pt x="979420" y="0"/>
                    <a:pt x="1027993" y="48573"/>
                    <a:pt x="1027993" y="108492"/>
                  </a:cubicBezTo>
                  <a:lnTo>
                    <a:pt x="1027993" y="108492"/>
                  </a:lnTo>
                  <a:cubicBezTo>
                    <a:pt x="1027993" y="168410"/>
                    <a:pt x="979420" y="216983"/>
                    <a:pt x="919502" y="216983"/>
                  </a:cubicBezTo>
                  <a:lnTo>
                    <a:pt x="108492" y="216983"/>
                  </a:lnTo>
                  <a:cubicBezTo>
                    <a:pt x="48573" y="216983"/>
                    <a:pt x="0" y="168410"/>
                    <a:pt x="0" y="108492"/>
                  </a:cubicBezTo>
                  <a:lnTo>
                    <a:pt x="0" y="108492"/>
                  </a:lnTo>
                  <a:cubicBezTo>
                    <a:pt x="0" y="48573"/>
                    <a:pt x="48573" y="0"/>
                    <a:pt x="1084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90E1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F4F4F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2354"/>
              <a:ext cx="1027993" cy="293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30"/>
                </a:lnSpc>
              </a:pPr>
              <a:r>
                <a:rPr lang="en-US" sz="2521" b="1" spc="52" dirty="0">
                  <a:solidFill>
                    <a:srgbClr val="F4F4F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Telegram Bot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356138" y="2658719"/>
            <a:ext cx="3903162" cy="1113180"/>
            <a:chOff x="0" y="-49902"/>
            <a:chExt cx="1027993" cy="2931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27993" cy="216983"/>
            </a:xfrm>
            <a:custGeom>
              <a:avLst/>
              <a:gdLst/>
              <a:ahLst/>
              <a:cxnLst/>
              <a:rect l="l" t="t" r="r" b="b"/>
              <a:pathLst>
                <a:path w="1027993" h="216983">
                  <a:moveTo>
                    <a:pt x="108492" y="0"/>
                  </a:moveTo>
                  <a:lnTo>
                    <a:pt x="919502" y="0"/>
                  </a:lnTo>
                  <a:cubicBezTo>
                    <a:pt x="979420" y="0"/>
                    <a:pt x="1027993" y="48573"/>
                    <a:pt x="1027993" y="108492"/>
                  </a:cubicBezTo>
                  <a:lnTo>
                    <a:pt x="1027993" y="108492"/>
                  </a:lnTo>
                  <a:cubicBezTo>
                    <a:pt x="1027993" y="168410"/>
                    <a:pt x="979420" y="216983"/>
                    <a:pt x="919502" y="216983"/>
                  </a:cubicBezTo>
                  <a:lnTo>
                    <a:pt x="108492" y="216983"/>
                  </a:lnTo>
                  <a:cubicBezTo>
                    <a:pt x="48573" y="216983"/>
                    <a:pt x="0" y="168410"/>
                    <a:pt x="0" y="108492"/>
                  </a:cubicBezTo>
                  <a:lnTo>
                    <a:pt x="0" y="108492"/>
                  </a:lnTo>
                  <a:cubicBezTo>
                    <a:pt x="0" y="48573"/>
                    <a:pt x="48573" y="0"/>
                    <a:pt x="1084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90E1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F4F4F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9902"/>
              <a:ext cx="1027993" cy="293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30"/>
                </a:lnSpc>
              </a:pPr>
              <a:r>
                <a:rPr lang="en-US" sz="2521" b="1" spc="52" dirty="0">
                  <a:solidFill>
                    <a:srgbClr val="F4F4F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n8n Cloud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356138" y="4487520"/>
            <a:ext cx="3903162" cy="1113180"/>
            <a:chOff x="0" y="-58668"/>
            <a:chExt cx="1027993" cy="2931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7993" cy="216983"/>
            </a:xfrm>
            <a:custGeom>
              <a:avLst/>
              <a:gdLst/>
              <a:ahLst/>
              <a:cxnLst/>
              <a:rect l="l" t="t" r="r" b="b"/>
              <a:pathLst>
                <a:path w="1027993" h="216983">
                  <a:moveTo>
                    <a:pt x="108492" y="0"/>
                  </a:moveTo>
                  <a:lnTo>
                    <a:pt x="919502" y="0"/>
                  </a:lnTo>
                  <a:cubicBezTo>
                    <a:pt x="979420" y="0"/>
                    <a:pt x="1027993" y="48573"/>
                    <a:pt x="1027993" y="108492"/>
                  </a:cubicBezTo>
                  <a:lnTo>
                    <a:pt x="1027993" y="108492"/>
                  </a:lnTo>
                  <a:cubicBezTo>
                    <a:pt x="1027993" y="168410"/>
                    <a:pt x="979420" y="216983"/>
                    <a:pt x="919502" y="216983"/>
                  </a:cubicBezTo>
                  <a:lnTo>
                    <a:pt x="108492" y="216983"/>
                  </a:lnTo>
                  <a:cubicBezTo>
                    <a:pt x="48573" y="216983"/>
                    <a:pt x="0" y="168410"/>
                    <a:pt x="0" y="108492"/>
                  </a:cubicBezTo>
                  <a:lnTo>
                    <a:pt x="0" y="108492"/>
                  </a:lnTo>
                  <a:cubicBezTo>
                    <a:pt x="0" y="48573"/>
                    <a:pt x="48573" y="0"/>
                    <a:pt x="1084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90E1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F4F4F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8668"/>
              <a:ext cx="1027993" cy="293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30"/>
                </a:lnSpc>
              </a:pPr>
              <a:r>
                <a:rPr lang="en-US" sz="2521" b="1" spc="52" dirty="0">
                  <a:solidFill>
                    <a:srgbClr val="F4F4F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Gemini 2.5 Flash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356138" y="6316319"/>
            <a:ext cx="3903162" cy="1113180"/>
            <a:chOff x="0" y="-67434"/>
            <a:chExt cx="1027993" cy="2931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27993" cy="216983"/>
            </a:xfrm>
            <a:custGeom>
              <a:avLst/>
              <a:gdLst/>
              <a:ahLst/>
              <a:cxnLst/>
              <a:rect l="l" t="t" r="r" b="b"/>
              <a:pathLst>
                <a:path w="1027993" h="216983">
                  <a:moveTo>
                    <a:pt x="108492" y="0"/>
                  </a:moveTo>
                  <a:lnTo>
                    <a:pt x="919502" y="0"/>
                  </a:lnTo>
                  <a:cubicBezTo>
                    <a:pt x="979420" y="0"/>
                    <a:pt x="1027993" y="48573"/>
                    <a:pt x="1027993" y="108492"/>
                  </a:cubicBezTo>
                  <a:lnTo>
                    <a:pt x="1027993" y="108492"/>
                  </a:lnTo>
                  <a:cubicBezTo>
                    <a:pt x="1027993" y="168410"/>
                    <a:pt x="979420" y="216983"/>
                    <a:pt x="919502" y="216983"/>
                  </a:cubicBezTo>
                  <a:lnTo>
                    <a:pt x="108492" y="216983"/>
                  </a:lnTo>
                  <a:cubicBezTo>
                    <a:pt x="48573" y="216983"/>
                    <a:pt x="0" y="168410"/>
                    <a:pt x="0" y="108492"/>
                  </a:cubicBezTo>
                  <a:lnTo>
                    <a:pt x="0" y="108492"/>
                  </a:lnTo>
                  <a:cubicBezTo>
                    <a:pt x="0" y="48573"/>
                    <a:pt x="48573" y="0"/>
                    <a:pt x="1084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90E1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F4F4F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7434"/>
              <a:ext cx="1027993" cy="293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30"/>
                </a:lnSpc>
              </a:pPr>
              <a:r>
                <a:rPr lang="en-US" sz="2521" b="1" spc="52" dirty="0">
                  <a:solidFill>
                    <a:srgbClr val="F4F4F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Google Sheets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356138" y="8221320"/>
            <a:ext cx="3903162" cy="1113180"/>
            <a:chOff x="0" y="-56131"/>
            <a:chExt cx="1027993" cy="2931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27993" cy="216983"/>
            </a:xfrm>
            <a:custGeom>
              <a:avLst/>
              <a:gdLst/>
              <a:ahLst/>
              <a:cxnLst/>
              <a:rect l="l" t="t" r="r" b="b"/>
              <a:pathLst>
                <a:path w="1027993" h="216983">
                  <a:moveTo>
                    <a:pt x="108492" y="0"/>
                  </a:moveTo>
                  <a:lnTo>
                    <a:pt x="919502" y="0"/>
                  </a:lnTo>
                  <a:cubicBezTo>
                    <a:pt x="979420" y="0"/>
                    <a:pt x="1027993" y="48573"/>
                    <a:pt x="1027993" y="108492"/>
                  </a:cubicBezTo>
                  <a:lnTo>
                    <a:pt x="1027993" y="108492"/>
                  </a:lnTo>
                  <a:cubicBezTo>
                    <a:pt x="1027993" y="168410"/>
                    <a:pt x="979420" y="216983"/>
                    <a:pt x="919502" y="216983"/>
                  </a:cubicBezTo>
                  <a:lnTo>
                    <a:pt x="108492" y="216983"/>
                  </a:lnTo>
                  <a:cubicBezTo>
                    <a:pt x="48573" y="216983"/>
                    <a:pt x="0" y="168410"/>
                    <a:pt x="0" y="108492"/>
                  </a:cubicBezTo>
                  <a:lnTo>
                    <a:pt x="0" y="108492"/>
                  </a:lnTo>
                  <a:cubicBezTo>
                    <a:pt x="0" y="48573"/>
                    <a:pt x="48573" y="0"/>
                    <a:pt x="1084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90E1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F4F4F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6131"/>
              <a:ext cx="1027993" cy="293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30"/>
                </a:lnSpc>
              </a:pPr>
              <a:r>
                <a:rPr lang="en-US" sz="2521" b="1" spc="52" dirty="0">
                  <a:solidFill>
                    <a:srgbClr val="F4F4F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Power BI Dashboard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873585" y="1040458"/>
            <a:ext cx="812101" cy="81210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124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6B112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9525" cap="sq">
              <a:solidFill>
                <a:srgbClr val="F4F4F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0"/>
                </a:lnSpc>
              </a:pPr>
              <a:r>
                <a:rPr lang="en-US" sz="2221" b="1" spc="46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873585" y="2848191"/>
            <a:ext cx="812101" cy="812101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124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6B112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9525" cap="sq">
              <a:solidFill>
                <a:srgbClr val="F4F4F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8"/>
                </a:lnSpc>
              </a:pPr>
              <a:r>
                <a:rPr lang="en-US" sz="2220" b="1" spc="46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873585" y="4737450"/>
            <a:ext cx="812101" cy="81210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124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6B112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9525" cap="sq">
              <a:solidFill>
                <a:srgbClr val="F4F4F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8"/>
                </a:lnSpc>
              </a:pPr>
              <a:r>
                <a:rPr lang="en-US" sz="2220" b="1" spc="46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3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73585" y="6584116"/>
            <a:ext cx="812101" cy="81210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124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6B112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9525" cap="sq">
              <a:solidFill>
                <a:srgbClr val="F4F4F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8"/>
                </a:lnSpc>
              </a:pPr>
              <a:r>
                <a:rPr lang="en-US" sz="2220" b="1" spc="46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873585" y="8472542"/>
            <a:ext cx="812101" cy="81210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124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6B112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9525" cap="sq">
              <a:solidFill>
                <a:srgbClr val="F4F4F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8"/>
                </a:lnSpc>
              </a:pPr>
              <a:r>
                <a:rPr lang="en-US" sz="2220" b="1" spc="46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5</a:t>
              </a:r>
            </a:p>
          </p:txBody>
        </p:sp>
      </p:grpSp>
      <p:sp>
        <p:nvSpPr>
          <p:cNvPr id="42" name="Text 2">
            <a:extLst>
              <a:ext uri="{FF2B5EF4-FFF2-40B4-BE49-F238E27FC236}">
                <a16:creationId xmlns:a16="http://schemas.microsoft.com/office/drawing/2014/main" id="{D792B7F3-DA0A-E90E-CA18-DEFC29CD1C92}"/>
              </a:ext>
            </a:extLst>
          </p:cNvPr>
          <p:cNvSpPr/>
          <p:nvPr/>
        </p:nvSpPr>
        <p:spPr>
          <a:xfrm>
            <a:off x="304800" y="1223861"/>
            <a:ext cx="8666560" cy="445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800" dirty="0">
                <a:solidFill>
                  <a:srgbClr val="FAEBEB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Five Layers: Each Playing a Distinct Role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EDF2EBDA-8A51-2004-E2AD-89A9C7CA9C48}"/>
              </a:ext>
            </a:extLst>
          </p:cNvPr>
          <p:cNvSpPr/>
          <p:nvPr/>
        </p:nvSpPr>
        <p:spPr>
          <a:xfrm>
            <a:off x="304800" y="600968"/>
            <a:ext cx="1828800" cy="427732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1">
            <a:extLst>
              <a:ext uri="{FF2B5EF4-FFF2-40B4-BE49-F238E27FC236}">
                <a16:creationId xmlns:a16="http://schemas.microsoft.com/office/drawing/2014/main" id="{52E902A0-9ACD-E484-8539-89C1F0134988}"/>
              </a:ext>
            </a:extLst>
          </p:cNvPr>
          <p:cNvSpPr/>
          <p:nvPr/>
        </p:nvSpPr>
        <p:spPr>
          <a:xfrm>
            <a:off x="381000" y="785811"/>
            <a:ext cx="1666428" cy="39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ARCHITECTURE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03AAF0-200A-CBA9-7AC6-200A7010C570}"/>
              </a:ext>
            </a:extLst>
          </p:cNvPr>
          <p:cNvSpPr txBox="1"/>
          <p:nvPr/>
        </p:nvSpPr>
        <p:spPr>
          <a:xfrm>
            <a:off x="742003" y="2182867"/>
            <a:ext cx="49529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D1AEA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INPUT</a:t>
            </a:r>
          </a:p>
          <a:p>
            <a:endParaRPr lang="en-US" sz="60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7D1F8B-F4F2-D0CC-019E-2F2D8442E368}"/>
              </a:ext>
            </a:extLst>
          </p:cNvPr>
          <p:cNvSpPr txBox="1"/>
          <p:nvPr/>
        </p:nvSpPr>
        <p:spPr>
          <a:xfrm>
            <a:off x="328186" y="5903413"/>
            <a:ext cx="97301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D1AEAE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Accepts text, voice notes &amp; receipt photos from the business owner</a:t>
            </a:r>
            <a:endParaRPr lang="en-US" sz="36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36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48B957-5F44-15DC-1CF4-2C908E7E819F}"/>
              </a:ext>
            </a:extLst>
          </p:cNvPr>
          <p:cNvSpPr txBox="1"/>
          <p:nvPr/>
        </p:nvSpPr>
        <p:spPr>
          <a:xfrm>
            <a:off x="609600" y="2182867"/>
            <a:ext cx="78683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D1AEA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ORCHESTRATION</a:t>
            </a:r>
          </a:p>
          <a:p>
            <a:endParaRPr lang="en-US" sz="60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300A65-52C9-AB93-65F1-7B2B077EF16E}"/>
              </a:ext>
            </a:extLst>
          </p:cNvPr>
          <p:cNvSpPr txBox="1"/>
          <p:nvPr/>
        </p:nvSpPr>
        <p:spPr>
          <a:xfrm>
            <a:off x="304800" y="5903774"/>
            <a:ext cx="96773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D1AEA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Routes messages, triggers AI models, manages all workflow logic</a:t>
            </a:r>
          </a:p>
          <a:p>
            <a:endParaRPr lang="en-US" sz="36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158AA9-502C-62E6-7D16-2629B147EA94}"/>
              </a:ext>
            </a:extLst>
          </p:cNvPr>
          <p:cNvSpPr txBox="1"/>
          <p:nvPr/>
        </p:nvSpPr>
        <p:spPr>
          <a:xfrm>
            <a:off x="533400" y="2182867"/>
            <a:ext cx="70668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D1AEA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INTELLIGENCE</a:t>
            </a:r>
          </a:p>
          <a:p>
            <a:endParaRPr lang="en-US" sz="60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F47D49-F9EB-F6F3-7331-B3D5949DCEDD}"/>
              </a:ext>
            </a:extLst>
          </p:cNvPr>
          <p:cNvSpPr txBox="1"/>
          <p:nvPr/>
        </p:nvSpPr>
        <p:spPr>
          <a:xfrm>
            <a:off x="304733" y="5905500"/>
            <a:ext cx="96773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D1AEA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Extracts JSON data, transcribes audio, performs OCR, generates insights</a:t>
            </a:r>
          </a:p>
          <a:p>
            <a:endParaRPr lang="en-US" sz="36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1AEB374-EAE9-59A3-A7ED-88A2C0B55084}"/>
              </a:ext>
            </a:extLst>
          </p:cNvPr>
          <p:cNvSpPr txBox="1"/>
          <p:nvPr/>
        </p:nvSpPr>
        <p:spPr>
          <a:xfrm>
            <a:off x="457200" y="2171700"/>
            <a:ext cx="5638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kern="0" spc="300" dirty="0">
                <a:solidFill>
                  <a:srgbClr val="D1AEA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DATABASE</a:t>
            </a:r>
            <a:endParaRPr lang="en-US" sz="60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60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F2792B-EC91-6B6C-20EE-426016CD793F}"/>
              </a:ext>
            </a:extLst>
          </p:cNvPr>
          <p:cNvSpPr txBox="1"/>
          <p:nvPr/>
        </p:nvSpPr>
        <p:spPr>
          <a:xfrm>
            <a:off x="274022" y="5905500"/>
            <a:ext cx="100129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D1AEA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Central cloud storage: Transactions, COA, Forecasts, Health Scores</a:t>
            </a:r>
          </a:p>
          <a:p>
            <a:endParaRPr lang="en-US" sz="36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F055C7-CFB6-4E09-A32B-6F7EEA230CE7}"/>
              </a:ext>
            </a:extLst>
          </p:cNvPr>
          <p:cNvSpPr txBox="1"/>
          <p:nvPr/>
        </p:nvSpPr>
        <p:spPr>
          <a:xfrm>
            <a:off x="457200" y="2171700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kern="0" spc="300" dirty="0">
                <a:solidFill>
                  <a:srgbClr val="D1AEA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 ANALYTICS</a:t>
            </a:r>
            <a:endParaRPr lang="en-US" sz="60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60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5C51C3-FF97-88BE-13E5-04BC9963217F}"/>
              </a:ext>
            </a:extLst>
          </p:cNvPr>
          <p:cNvSpPr txBox="1"/>
          <p:nvPr/>
        </p:nvSpPr>
        <p:spPr>
          <a:xfrm>
            <a:off x="304868" y="5903774"/>
            <a:ext cx="96011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D1AEAE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Real-time executive dashboard;  live cash, forecasts, anomaly flags</a:t>
            </a:r>
            <a:endParaRPr lang="en-US" sz="36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3600" b="1" dirty="0">
              <a:solidFill>
                <a:srgbClr val="D1AEA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5" grpId="1"/>
      <p:bldP spid="47" grpId="0"/>
      <p:bldP spid="47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5" grpId="0"/>
      <p:bldP spid="55" grpId="1"/>
      <p:bldP spid="57" grpId="0"/>
      <p:bldP spid="57" grpId="1"/>
      <p:bldP spid="58" grpId="0"/>
      <p:bldP spid="5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2781300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A86A1-ED05-2578-6F01-2224BEEC9DD2}"/>
              </a:ext>
            </a:extLst>
          </p:cNvPr>
          <p:cNvSpPr txBox="1"/>
          <p:nvPr/>
        </p:nvSpPr>
        <p:spPr>
          <a:xfrm>
            <a:off x="914400" y="1257300"/>
            <a:ext cx="91557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How It Works</a:t>
            </a:r>
            <a:endParaRPr lang="en-US" sz="6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844882F-40BD-49D9-4B8D-4A49F45CE8D5}"/>
              </a:ext>
            </a:extLst>
          </p:cNvPr>
          <p:cNvSpPr/>
          <p:nvPr/>
        </p:nvSpPr>
        <p:spPr>
          <a:xfrm>
            <a:off x="731520" y="3467100"/>
            <a:ext cx="6949440" cy="6583680"/>
          </a:xfrm>
          <a:prstGeom prst="rect">
            <a:avLst/>
          </a:prstGeom>
          <a:solidFill>
            <a:srgbClr val="320810"/>
          </a:solidFill>
          <a:ln w="12700">
            <a:solidFill>
              <a:srgbClr val="D1AEA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4E4222F-7017-BECA-BBFC-757F4A92C6D5}"/>
              </a:ext>
            </a:extLst>
          </p:cNvPr>
          <p:cNvSpPr/>
          <p:nvPr/>
        </p:nvSpPr>
        <p:spPr>
          <a:xfrm>
            <a:off x="1097280" y="370484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kern="0" spc="300" dirty="0">
                <a:solidFill>
                  <a:srgbClr val="F1E7E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TELEGRAM INPUT</a:t>
            </a:r>
            <a:endParaRPr lang="en-US" sz="1700" dirty="0">
              <a:solidFill>
                <a:srgbClr val="F1E7E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BACFE3FF-BD6F-1CC8-4D5C-5CE25CDAEDC7}"/>
              </a:ext>
            </a:extLst>
          </p:cNvPr>
          <p:cNvSpPr/>
          <p:nvPr/>
        </p:nvSpPr>
        <p:spPr>
          <a:xfrm>
            <a:off x="2560320" y="4564380"/>
            <a:ext cx="4572000" cy="914400"/>
          </a:xfrm>
          <a:prstGeom prst="roundRect">
            <a:avLst>
              <a:gd name="adj" fmla="val 14000"/>
            </a:avLst>
          </a:prstGeom>
          <a:solidFill>
            <a:srgbClr val="4C0C1A"/>
          </a:solidFill>
          <a:ln w="12700">
            <a:solidFill>
              <a:srgbClr val="D1AEAE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741D67C6-474A-283A-96C0-5FC493ABE3D9}"/>
              </a:ext>
            </a:extLst>
          </p:cNvPr>
          <p:cNvSpPr/>
          <p:nvPr/>
        </p:nvSpPr>
        <p:spPr>
          <a:xfrm>
            <a:off x="2560320" y="4564380"/>
            <a:ext cx="4572000" cy="914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r"/>
            <a:r>
              <a:rPr lang="ar-EG" sz="3600" dirty="0">
                <a:solidFill>
                  <a:srgbClr val="FFFFF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دفعت 750 جنية من الكارت</a:t>
            </a:r>
            <a:endParaRPr lang="en-US" sz="36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72578D38-E5F9-95FF-845A-CE2BCF54F6F4}"/>
              </a:ext>
            </a:extLst>
          </p:cNvPr>
          <p:cNvSpPr/>
          <p:nvPr/>
        </p:nvSpPr>
        <p:spPr>
          <a:xfrm>
            <a:off x="2560320" y="5935980"/>
            <a:ext cx="4572000" cy="914400"/>
          </a:xfrm>
          <a:prstGeom prst="roundRect">
            <a:avLst>
              <a:gd name="adj" fmla="val 14000"/>
            </a:avLst>
          </a:prstGeom>
          <a:solidFill>
            <a:srgbClr val="4C0C1A"/>
          </a:solidFill>
          <a:ln w="12700">
            <a:solidFill>
              <a:srgbClr val="D1AEAE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4B23FD4-47A4-F9EA-022A-25D2FA3CF502}"/>
              </a:ext>
            </a:extLst>
          </p:cNvPr>
          <p:cNvSpPr/>
          <p:nvPr/>
        </p:nvSpPr>
        <p:spPr>
          <a:xfrm>
            <a:off x="2560320" y="5935980"/>
            <a:ext cx="4572000" cy="914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r"/>
            <a:r>
              <a:rPr lang="en-US" sz="190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🎙 Voice note — 0:04</a:t>
            </a:r>
            <a:endParaRPr lang="en-US" sz="1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FE1B0C0E-1656-4D24-54F4-A75EE93B4F5E}"/>
              </a:ext>
            </a:extLst>
          </p:cNvPr>
          <p:cNvSpPr/>
          <p:nvPr/>
        </p:nvSpPr>
        <p:spPr>
          <a:xfrm>
            <a:off x="2560320" y="7307580"/>
            <a:ext cx="4572000" cy="914400"/>
          </a:xfrm>
          <a:prstGeom prst="roundRect">
            <a:avLst>
              <a:gd name="adj" fmla="val 14000"/>
            </a:avLst>
          </a:prstGeom>
          <a:solidFill>
            <a:srgbClr val="4C0C1A"/>
          </a:solidFill>
          <a:ln w="12700">
            <a:solidFill>
              <a:srgbClr val="D1AEAE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C2C83D9-CB01-1909-CD16-BD8CA2D40257}"/>
              </a:ext>
            </a:extLst>
          </p:cNvPr>
          <p:cNvSpPr/>
          <p:nvPr/>
        </p:nvSpPr>
        <p:spPr>
          <a:xfrm>
            <a:off x="2560320" y="7307580"/>
            <a:ext cx="4572000" cy="914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r"/>
            <a:r>
              <a:rPr lang="en-US" sz="190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📷 Receipt photo</a:t>
            </a:r>
            <a:endParaRPr lang="en-US" sz="1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AEDF2754-D8B5-AE40-F1E3-B86B4D92E462}"/>
              </a:ext>
            </a:extLst>
          </p:cNvPr>
          <p:cNvSpPr/>
          <p:nvPr/>
        </p:nvSpPr>
        <p:spPr>
          <a:xfrm>
            <a:off x="7863840" y="59359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dirty="0">
                <a:solidFill>
                  <a:srgbClr val="00C9A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⟶</a:t>
            </a:r>
            <a:endParaRPr lang="en-US" sz="4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1C7BDFE1-ED78-D9FE-B2A0-9AAE164173DD}"/>
              </a:ext>
            </a:extLst>
          </p:cNvPr>
          <p:cNvSpPr/>
          <p:nvPr/>
        </p:nvSpPr>
        <p:spPr>
          <a:xfrm>
            <a:off x="7717536" y="67589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8BA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</a:t>
            </a:r>
            <a:endParaRPr lang="en-US" sz="15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1500" dirty="0">
                <a:solidFill>
                  <a:srgbClr val="8BA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Processing</a:t>
            </a:r>
            <a:endParaRPr lang="en-US" sz="15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5C9A5F4F-1BE8-7DA0-B1A4-88DBAE138715}"/>
              </a:ext>
            </a:extLst>
          </p:cNvPr>
          <p:cNvSpPr/>
          <p:nvPr/>
        </p:nvSpPr>
        <p:spPr>
          <a:xfrm>
            <a:off x="9144000" y="3467100"/>
            <a:ext cx="8321040" cy="6583680"/>
          </a:xfrm>
          <a:prstGeom prst="rect">
            <a:avLst/>
          </a:prstGeom>
          <a:solidFill>
            <a:srgbClr val="320810"/>
          </a:solidFill>
          <a:ln w="12700">
            <a:solidFill>
              <a:srgbClr val="D1AEA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B031417E-15D8-B05B-5087-14FBC1A7D1CA}"/>
              </a:ext>
            </a:extLst>
          </p:cNvPr>
          <p:cNvSpPr/>
          <p:nvPr/>
        </p:nvSpPr>
        <p:spPr>
          <a:xfrm>
            <a:off x="9509760" y="370484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kern="0" spc="300" dirty="0">
                <a:solidFill>
                  <a:srgbClr val="F1E7E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TELEGRAM REPLY</a:t>
            </a:r>
            <a:endParaRPr lang="en-US" sz="1700" dirty="0">
              <a:solidFill>
                <a:srgbClr val="F1E7E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3A40EA0A-43A6-8000-0887-FDAE6606D960}"/>
              </a:ext>
            </a:extLst>
          </p:cNvPr>
          <p:cNvSpPr/>
          <p:nvPr/>
        </p:nvSpPr>
        <p:spPr>
          <a:xfrm>
            <a:off x="9326880" y="4472940"/>
            <a:ext cx="7680960" cy="5120640"/>
          </a:xfrm>
          <a:prstGeom prst="roundRect">
            <a:avLst>
              <a:gd name="adj" fmla="val 3214"/>
            </a:avLst>
          </a:prstGeom>
          <a:solidFill>
            <a:srgbClr val="4C0C1A"/>
          </a:solidFill>
          <a:ln w="12700">
            <a:solidFill>
              <a:srgbClr val="D1AEAE"/>
            </a:solidFill>
            <a:prstDash val="solid"/>
          </a:ln>
        </p:spPr>
        <p:txBody>
          <a:bodyPr/>
          <a:lstStyle/>
          <a:p>
            <a:endParaRPr lang="en-US" sz="36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1079C749-0815-18EA-FE71-549ADF910BD9}"/>
              </a:ext>
            </a:extLst>
          </p:cNvPr>
          <p:cNvSpPr/>
          <p:nvPr/>
        </p:nvSpPr>
        <p:spPr>
          <a:xfrm>
            <a:off x="9601200" y="4655820"/>
            <a:ext cx="7132320" cy="47548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r>
              <a:rPr lang="en-US" sz="1900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✅  Transaction Recorded</a:t>
            </a:r>
            <a:endParaRPr lang="en-US" sz="1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900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💰  Amount:     750 EGP</a:t>
            </a:r>
            <a:endParaRPr lang="en-US" sz="1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900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📊  Type:         Expense</a:t>
            </a:r>
            <a:endParaRPr lang="en-US" sz="1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900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📂  Category:  Internet</a:t>
            </a:r>
            <a:endParaRPr lang="en-US" sz="1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900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💳  Payment:   Card</a:t>
            </a:r>
            <a:endParaRPr lang="en-US" sz="1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900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🏪  Vendor:     Telecom Co.</a:t>
            </a:r>
            <a:endParaRPr lang="en-US" sz="1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900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🎯  Confidence: 97%</a:t>
            </a:r>
            <a:endParaRPr lang="en-US" sz="1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900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🆔  TXN-1715689200000</a:t>
            </a:r>
            <a:endParaRPr lang="en-US" sz="1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62F50-B9FC-59FD-6760-2C5EB05F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CA1E0A7-7A8A-10E6-DFF0-354B4A6A01A9}"/>
              </a:ext>
            </a:extLst>
          </p:cNvPr>
          <p:cNvSpPr/>
          <p:nvPr/>
        </p:nvSpPr>
        <p:spPr>
          <a:xfrm flipV="1">
            <a:off x="5915734" y="3467100"/>
            <a:ext cx="12372266" cy="18156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82C0A4E-87E3-41CA-EDA5-279985AA29F1}"/>
              </a:ext>
            </a:extLst>
          </p:cNvPr>
          <p:cNvGrpSpPr/>
          <p:nvPr/>
        </p:nvGrpSpPr>
        <p:grpSpPr>
          <a:xfrm>
            <a:off x="-3657600" y="-38100"/>
            <a:ext cx="9573334" cy="8229600"/>
            <a:chOff x="0" y="0"/>
            <a:chExt cx="1483160" cy="12749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FF0A556-4DA1-0F72-CA31-01A154C3DD54}"/>
                </a:ext>
              </a:extLst>
            </p:cNvPr>
            <p:cNvSpPr/>
            <p:nvPr/>
          </p:nvSpPr>
          <p:spPr>
            <a:xfrm>
              <a:off x="0" y="0"/>
              <a:ext cx="1483160" cy="1274980"/>
            </a:xfrm>
            <a:custGeom>
              <a:avLst/>
              <a:gdLst/>
              <a:ahLst/>
              <a:cxnLst/>
              <a:rect l="l" t="t" r="r" b="b"/>
              <a:pathLst>
                <a:path w="1483160" h="1274980">
                  <a:moveTo>
                    <a:pt x="49330" y="0"/>
                  </a:moveTo>
                  <a:lnTo>
                    <a:pt x="1433829" y="0"/>
                  </a:lnTo>
                  <a:cubicBezTo>
                    <a:pt x="1446913" y="0"/>
                    <a:pt x="1459460" y="5197"/>
                    <a:pt x="1468711" y="14449"/>
                  </a:cubicBezTo>
                  <a:cubicBezTo>
                    <a:pt x="1477963" y="23700"/>
                    <a:pt x="1483160" y="36247"/>
                    <a:pt x="1483160" y="49330"/>
                  </a:cubicBezTo>
                  <a:lnTo>
                    <a:pt x="1483160" y="1225650"/>
                  </a:lnTo>
                  <a:cubicBezTo>
                    <a:pt x="1483160" y="1238733"/>
                    <a:pt x="1477963" y="1251281"/>
                    <a:pt x="1468711" y="1260532"/>
                  </a:cubicBezTo>
                  <a:cubicBezTo>
                    <a:pt x="1459460" y="1269783"/>
                    <a:pt x="1446913" y="1274980"/>
                    <a:pt x="1433829" y="1274980"/>
                  </a:cubicBezTo>
                  <a:lnTo>
                    <a:pt x="49330" y="1274980"/>
                  </a:lnTo>
                  <a:cubicBezTo>
                    <a:pt x="36247" y="1274980"/>
                    <a:pt x="23700" y="1269783"/>
                    <a:pt x="14449" y="1260532"/>
                  </a:cubicBezTo>
                  <a:cubicBezTo>
                    <a:pt x="5197" y="1251281"/>
                    <a:pt x="0" y="1238733"/>
                    <a:pt x="0" y="1225650"/>
                  </a:cubicBezTo>
                  <a:lnTo>
                    <a:pt x="0" y="49330"/>
                  </a:lnTo>
                  <a:cubicBezTo>
                    <a:pt x="0" y="36247"/>
                    <a:pt x="5197" y="23700"/>
                    <a:pt x="14449" y="14449"/>
                  </a:cubicBezTo>
                  <a:cubicBezTo>
                    <a:pt x="23700" y="5197"/>
                    <a:pt x="36247" y="0"/>
                    <a:pt x="49330" y="0"/>
                  </a:cubicBezTo>
                  <a:close/>
                </a:path>
              </a:pathLst>
            </a:custGeom>
            <a:blipFill>
              <a:blip r:embed="rId3"/>
              <a:stretch>
                <a:fillRect l="-30473" t="-71608" b="-56057"/>
              </a:stretch>
            </a:blip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Shape 1">
            <a:extLst>
              <a:ext uri="{FF2B5EF4-FFF2-40B4-BE49-F238E27FC236}">
                <a16:creationId xmlns:a16="http://schemas.microsoft.com/office/drawing/2014/main" id="{39DF2FD3-D6E5-2899-2C13-71784D87626F}"/>
              </a:ext>
            </a:extLst>
          </p:cNvPr>
          <p:cNvSpPr/>
          <p:nvPr/>
        </p:nvSpPr>
        <p:spPr>
          <a:xfrm>
            <a:off x="9112090" y="342900"/>
            <a:ext cx="1146572" cy="379362"/>
          </a:xfrm>
          <a:prstGeom prst="roundRect">
            <a:avLst>
              <a:gd name="adj" fmla="val 19190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5D1C6AD-3C4B-6134-F593-D037E88BBF93}"/>
              </a:ext>
            </a:extLst>
          </p:cNvPr>
          <p:cNvSpPr/>
          <p:nvPr/>
        </p:nvSpPr>
        <p:spPr>
          <a:xfrm>
            <a:off x="9242019" y="407787"/>
            <a:ext cx="886718" cy="249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3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ANALYTICS</a:t>
            </a:r>
            <a:endParaRPr lang="en-US" sz="1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5F38BC-1B68-1BAD-CE45-E77FAA28CFAC}"/>
              </a:ext>
            </a:extLst>
          </p:cNvPr>
          <p:cNvSpPr txBox="1"/>
          <p:nvPr/>
        </p:nvSpPr>
        <p:spPr>
          <a:xfrm>
            <a:off x="8534400" y="807664"/>
            <a:ext cx="9683260" cy="2261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600"/>
              </a:lnSpc>
            </a:pPr>
            <a:r>
              <a:rPr lang="en-US" sz="6000" b="1" dirty="0">
                <a:solidFill>
                  <a:srgbClr val="FAEBEB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Power BI Dashboard Boardroom-Ready Analytics</a:t>
            </a:r>
            <a:endParaRPr lang="en-US" sz="6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6EE428E9-5251-6765-D79E-592233C30956}"/>
              </a:ext>
            </a:extLst>
          </p:cNvPr>
          <p:cNvSpPr/>
          <p:nvPr/>
        </p:nvSpPr>
        <p:spPr>
          <a:xfrm>
            <a:off x="7467600" y="3767732"/>
            <a:ext cx="10058400" cy="1299864"/>
          </a:xfrm>
          <a:prstGeom prst="roundRect">
            <a:avLst>
              <a:gd name="adj" fmla="val 7001"/>
            </a:avLst>
          </a:prstGeom>
          <a:solidFill>
            <a:srgbClr val="0A0A0A">
              <a:alpha val="95000"/>
            </a:srgbClr>
          </a:solidFill>
          <a:ln w="14288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F1F759BC-CE34-8E81-97FE-657B1BFB67C6}"/>
              </a:ext>
            </a:extLst>
          </p:cNvPr>
          <p:cNvSpPr/>
          <p:nvPr/>
        </p:nvSpPr>
        <p:spPr>
          <a:xfrm>
            <a:off x="7496176" y="3796308"/>
            <a:ext cx="914271" cy="1271289"/>
          </a:xfrm>
          <a:prstGeom prst="roundRect">
            <a:avLst>
              <a:gd name="adj" fmla="val 6544"/>
            </a:avLst>
          </a:prstGeom>
          <a:solidFill>
            <a:srgbClr val="641022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4ECA77D1-D599-F7E1-E393-4227C4FDEE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2279" y="4255146"/>
            <a:ext cx="342753" cy="324892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DF18C075-2E2A-55AC-D1D3-215353057681}"/>
              </a:ext>
            </a:extLst>
          </p:cNvPr>
          <p:cNvSpPr/>
          <p:nvPr/>
        </p:nvSpPr>
        <p:spPr>
          <a:xfrm>
            <a:off x="8536037" y="4012852"/>
            <a:ext cx="3301929" cy="356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Live Cash Position</a:t>
            </a:r>
            <a:endParaRPr lang="en-US" sz="2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EAC08DCD-762F-0E18-3019-AD9802F6A4F2}"/>
              </a:ext>
            </a:extLst>
          </p:cNvPr>
          <p:cNvSpPr/>
          <p:nvPr/>
        </p:nvSpPr>
        <p:spPr>
          <a:xfrm>
            <a:off x="8536038" y="4473178"/>
            <a:ext cx="8672625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7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Card + Gauge showing real-time income vs. expenses vs. net cash balance.</a:t>
            </a:r>
            <a:endParaRPr lang="en-US" sz="1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955DEA4D-864E-07CB-5003-030F28933105}"/>
              </a:ext>
            </a:extLst>
          </p:cNvPr>
          <p:cNvSpPr/>
          <p:nvPr/>
        </p:nvSpPr>
        <p:spPr>
          <a:xfrm>
            <a:off x="7467600" y="5240834"/>
            <a:ext cx="10058400" cy="1299864"/>
          </a:xfrm>
          <a:prstGeom prst="roundRect">
            <a:avLst>
              <a:gd name="adj" fmla="val 7001"/>
            </a:avLst>
          </a:prstGeom>
          <a:solidFill>
            <a:srgbClr val="0A0A0A">
              <a:alpha val="95000"/>
            </a:srgbClr>
          </a:solidFill>
          <a:ln w="14288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846B15CD-7EBF-F516-085F-587983829146}"/>
              </a:ext>
            </a:extLst>
          </p:cNvPr>
          <p:cNvSpPr/>
          <p:nvPr/>
        </p:nvSpPr>
        <p:spPr>
          <a:xfrm>
            <a:off x="7496176" y="5269408"/>
            <a:ext cx="914271" cy="1271289"/>
          </a:xfrm>
          <a:prstGeom prst="roundRect">
            <a:avLst>
              <a:gd name="adj" fmla="val 6544"/>
            </a:avLst>
          </a:prstGeom>
          <a:solidFill>
            <a:srgbClr val="641022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18894AFD-680A-D579-2440-5E6B83232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2279" y="5728246"/>
            <a:ext cx="342753" cy="324892"/>
          </a:xfrm>
          <a:prstGeom prst="rect">
            <a:avLst/>
          </a:prstGeom>
        </p:spPr>
      </p:pic>
      <p:sp>
        <p:nvSpPr>
          <p:cNvPr id="20" name="Text 10">
            <a:extLst>
              <a:ext uri="{FF2B5EF4-FFF2-40B4-BE49-F238E27FC236}">
                <a16:creationId xmlns:a16="http://schemas.microsoft.com/office/drawing/2014/main" id="{394F5DBA-9A68-FF9F-D0D3-9EA1291B6E0D}"/>
              </a:ext>
            </a:extLst>
          </p:cNvPr>
          <p:cNvSpPr/>
          <p:nvPr/>
        </p:nvSpPr>
        <p:spPr>
          <a:xfrm>
            <a:off x="8536037" y="5485954"/>
            <a:ext cx="3666664" cy="356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Forecast vs. Actuals</a:t>
            </a:r>
            <a:endParaRPr lang="en-US" sz="2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BFD56174-9CBD-3DC5-8957-2D280535B96B}"/>
              </a:ext>
            </a:extLst>
          </p:cNvPr>
          <p:cNvSpPr/>
          <p:nvPr/>
        </p:nvSpPr>
        <p:spPr>
          <a:xfrm>
            <a:off x="8536038" y="5946280"/>
            <a:ext cx="8672625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7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Line chart comparing projected 30-day balance against real transactions.</a:t>
            </a:r>
            <a:endParaRPr lang="en-US" sz="1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A94C7410-8D85-8F30-7662-C182FBF6E574}"/>
              </a:ext>
            </a:extLst>
          </p:cNvPr>
          <p:cNvSpPr/>
          <p:nvPr/>
        </p:nvSpPr>
        <p:spPr>
          <a:xfrm>
            <a:off x="7467600" y="6713934"/>
            <a:ext cx="10058400" cy="1299864"/>
          </a:xfrm>
          <a:prstGeom prst="roundRect">
            <a:avLst>
              <a:gd name="adj" fmla="val 7001"/>
            </a:avLst>
          </a:prstGeom>
          <a:solidFill>
            <a:srgbClr val="0A0A0A">
              <a:alpha val="95000"/>
            </a:srgbClr>
          </a:solidFill>
          <a:ln w="14288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05CD9445-44B8-A03F-AA37-5A02EC26CF77}"/>
              </a:ext>
            </a:extLst>
          </p:cNvPr>
          <p:cNvSpPr/>
          <p:nvPr/>
        </p:nvSpPr>
        <p:spPr>
          <a:xfrm>
            <a:off x="7496176" y="6713934"/>
            <a:ext cx="914271" cy="1299866"/>
          </a:xfrm>
          <a:prstGeom prst="roundRect">
            <a:avLst>
              <a:gd name="adj" fmla="val 6544"/>
            </a:avLst>
          </a:prstGeom>
          <a:solidFill>
            <a:srgbClr val="641022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DAF23C71-8FE9-0389-2771-832EA15AB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62279" y="7201346"/>
            <a:ext cx="342753" cy="324892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871DB765-FFE9-AF34-DEC6-A1A3E01C7692}"/>
              </a:ext>
            </a:extLst>
          </p:cNvPr>
          <p:cNvSpPr/>
          <p:nvPr/>
        </p:nvSpPr>
        <p:spPr>
          <a:xfrm>
            <a:off x="8536037" y="6959054"/>
            <a:ext cx="3974089" cy="356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Expenses by Category</a:t>
            </a:r>
            <a:endParaRPr lang="en-US" sz="2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14144E98-F4E7-3ECF-D6EE-BE3FB2CDFEF0}"/>
              </a:ext>
            </a:extLst>
          </p:cNvPr>
          <p:cNvSpPr/>
          <p:nvPr/>
        </p:nvSpPr>
        <p:spPr>
          <a:xfrm>
            <a:off x="8536038" y="7419380"/>
            <a:ext cx="8672625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7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Donut chart breaking down spending so owners see exactly where money goes.</a:t>
            </a:r>
            <a:endParaRPr lang="en-US" sz="1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D0367FB4-FA1A-F3E0-8108-D12374BB67A3}"/>
              </a:ext>
            </a:extLst>
          </p:cNvPr>
          <p:cNvSpPr/>
          <p:nvPr/>
        </p:nvSpPr>
        <p:spPr>
          <a:xfrm>
            <a:off x="7467600" y="8187036"/>
            <a:ext cx="10058400" cy="1299864"/>
          </a:xfrm>
          <a:prstGeom prst="roundRect">
            <a:avLst>
              <a:gd name="adj" fmla="val 7001"/>
            </a:avLst>
          </a:prstGeom>
          <a:solidFill>
            <a:srgbClr val="0A0A0A">
              <a:alpha val="95000"/>
            </a:srgbClr>
          </a:solidFill>
          <a:ln w="14288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8C7C8C6A-5EAE-3ED5-681B-44390FE8C212}"/>
              </a:ext>
            </a:extLst>
          </p:cNvPr>
          <p:cNvSpPr/>
          <p:nvPr/>
        </p:nvSpPr>
        <p:spPr>
          <a:xfrm>
            <a:off x="7496176" y="8215610"/>
            <a:ext cx="914271" cy="1271289"/>
          </a:xfrm>
          <a:prstGeom prst="roundRect">
            <a:avLst>
              <a:gd name="adj" fmla="val 6544"/>
            </a:avLst>
          </a:prstGeom>
          <a:solidFill>
            <a:srgbClr val="641022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C6F46339-A165-E649-FED2-F4FD1A7063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62279" y="8674448"/>
            <a:ext cx="342753" cy="324892"/>
          </a:xfrm>
          <a:prstGeom prst="rect">
            <a:avLst/>
          </a:prstGeom>
        </p:spPr>
      </p:pic>
      <p:sp>
        <p:nvSpPr>
          <p:cNvPr id="30" name="Text 18">
            <a:extLst>
              <a:ext uri="{FF2B5EF4-FFF2-40B4-BE49-F238E27FC236}">
                <a16:creationId xmlns:a16="http://schemas.microsoft.com/office/drawing/2014/main" id="{D5904E96-38EA-8180-D586-EDF6F4EA1AA1}"/>
              </a:ext>
            </a:extLst>
          </p:cNvPr>
          <p:cNvSpPr/>
          <p:nvPr/>
        </p:nvSpPr>
        <p:spPr>
          <a:xfrm>
            <a:off x="8536038" y="8432156"/>
            <a:ext cx="3007533" cy="356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Anomaly Flags</a:t>
            </a:r>
            <a:endParaRPr lang="en-US" sz="2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7262E860-410D-9D18-C682-1FC2CEFB22CC}"/>
              </a:ext>
            </a:extLst>
          </p:cNvPr>
          <p:cNvSpPr/>
          <p:nvPr/>
        </p:nvSpPr>
        <p:spPr>
          <a:xfrm>
            <a:off x="8536038" y="8892480"/>
            <a:ext cx="8672625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7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Table with conditional formatting highlighting unusual or high-expense rows.</a:t>
            </a:r>
            <a:endParaRPr lang="en-US" sz="1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2226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82884-C8D3-583B-0DE2-0961E374E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FA543FB-2672-6773-5B17-D25F1B7234D9}"/>
              </a:ext>
            </a:extLst>
          </p:cNvPr>
          <p:cNvSpPr/>
          <p:nvPr/>
        </p:nvSpPr>
        <p:spPr>
          <a:xfrm flipV="1">
            <a:off x="0" y="2095500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BFB5123-955A-C99C-ABD6-93B59A66DD3A}"/>
              </a:ext>
            </a:extLst>
          </p:cNvPr>
          <p:cNvSpPr/>
          <p:nvPr/>
        </p:nvSpPr>
        <p:spPr>
          <a:xfrm>
            <a:off x="609601" y="342900"/>
            <a:ext cx="2189262" cy="475208"/>
          </a:xfrm>
          <a:prstGeom prst="roundRect">
            <a:avLst>
              <a:gd name="adj" fmla="val 18192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5E235F6-F3DB-BDFE-6F3A-69E3209A8354}"/>
              </a:ext>
            </a:extLst>
          </p:cNvPr>
          <p:cNvSpPr/>
          <p:nvPr/>
        </p:nvSpPr>
        <p:spPr>
          <a:xfrm>
            <a:off x="763936" y="419993"/>
            <a:ext cx="1880592" cy="321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6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COMPETITIVE EDGE</a:t>
            </a:r>
            <a:endParaRPr lang="en-US" sz="1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BD67DD6-D0CC-A452-3411-FF98AEE7D84E}"/>
              </a:ext>
            </a:extLst>
          </p:cNvPr>
          <p:cNvSpPr/>
          <p:nvPr/>
        </p:nvSpPr>
        <p:spPr>
          <a:xfrm>
            <a:off x="609600" y="915740"/>
            <a:ext cx="7106692" cy="84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600"/>
              </a:lnSpc>
            </a:pPr>
            <a:r>
              <a:rPr lang="en-US" sz="5300" b="1" dirty="0">
                <a:solidFill>
                  <a:srgbClr val="FAEBEB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Why Exology Wins</a:t>
            </a:r>
            <a:endParaRPr lang="en-US" sz="5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EB7BE700-C07B-FC45-2375-778428E5E11B}"/>
              </a:ext>
            </a:extLst>
          </p:cNvPr>
          <p:cNvSpPr/>
          <p:nvPr/>
        </p:nvSpPr>
        <p:spPr>
          <a:xfrm>
            <a:off x="947886" y="2791272"/>
            <a:ext cx="5301108" cy="3323480"/>
          </a:xfrm>
          <a:prstGeom prst="roundRect">
            <a:avLst>
              <a:gd name="adj" fmla="val 3251"/>
            </a:avLst>
          </a:prstGeom>
          <a:solidFill>
            <a:srgbClr val="641022"/>
          </a:solidFill>
          <a:ln w="4763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C580091A-6F89-AAE2-657C-45565527FF68}"/>
              </a:ext>
            </a:extLst>
          </p:cNvPr>
          <p:cNvSpPr/>
          <p:nvPr/>
        </p:nvSpPr>
        <p:spPr>
          <a:xfrm>
            <a:off x="1214587" y="3057973"/>
            <a:ext cx="771822" cy="771822"/>
          </a:xfrm>
          <a:prstGeom prst="roundRect">
            <a:avLst>
              <a:gd name="adj" fmla="val 14807633"/>
            </a:avLst>
          </a:prstGeom>
          <a:solidFill>
            <a:srgbClr val="4C0C1A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6B702958-1E9C-D384-B49F-FA9C42950A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6816" y="3270200"/>
            <a:ext cx="347216" cy="347216"/>
          </a:xfrm>
          <a:prstGeom prst="rect">
            <a:avLst/>
          </a:prstGeom>
        </p:spPr>
      </p:pic>
      <p:sp>
        <p:nvSpPr>
          <p:cNvPr id="23" name="Text 5">
            <a:extLst>
              <a:ext uri="{FF2B5EF4-FFF2-40B4-BE49-F238E27FC236}">
                <a16:creationId xmlns:a16="http://schemas.microsoft.com/office/drawing/2014/main" id="{08BB850C-8CFE-2326-DDE2-D86D8A6B89B3}"/>
              </a:ext>
            </a:extLst>
          </p:cNvPr>
          <p:cNvSpPr/>
          <p:nvPr/>
        </p:nvSpPr>
        <p:spPr>
          <a:xfrm>
            <a:off x="1214586" y="4074171"/>
            <a:ext cx="4572000" cy="42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Boardroom Dashboard</a:t>
            </a:r>
            <a:endParaRPr lang="en-US" sz="2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80FE3DDD-57BC-DB9D-5705-1464C39984B1}"/>
              </a:ext>
            </a:extLst>
          </p:cNvPr>
          <p:cNvSpPr/>
          <p:nvPr/>
        </p:nvSpPr>
        <p:spPr>
          <a:xfrm>
            <a:off x="1214586" y="4643884"/>
            <a:ext cx="4767708" cy="120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While others show tables, Exology delivers a Power BI dashboard ready for a C-suite presentation.</a:t>
            </a:r>
            <a:endParaRPr lang="en-US" sz="2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D27F09F6-DBCE-D85C-4B55-94049A360398}"/>
              </a:ext>
            </a:extLst>
          </p:cNvPr>
          <p:cNvSpPr/>
          <p:nvPr/>
        </p:nvSpPr>
        <p:spPr>
          <a:xfrm>
            <a:off x="6493372" y="2791272"/>
            <a:ext cx="5301108" cy="3323480"/>
          </a:xfrm>
          <a:prstGeom prst="roundRect">
            <a:avLst>
              <a:gd name="adj" fmla="val 3251"/>
            </a:avLst>
          </a:prstGeom>
          <a:solidFill>
            <a:srgbClr val="641022"/>
          </a:solidFill>
          <a:ln w="4763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C9AE1311-7469-37D9-B76F-30C117F78702}"/>
              </a:ext>
            </a:extLst>
          </p:cNvPr>
          <p:cNvSpPr/>
          <p:nvPr/>
        </p:nvSpPr>
        <p:spPr>
          <a:xfrm>
            <a:off x="6760073" y="3057973"/>
            <a:ext cx="771822" cy="771822"/>
          </a:xfrm>
          <a:prstGeom prst="roundRect">
            <a:avLst>
              <a:gd name="adj" fmla="val 14807633"/>
            </a:avLst>
          </a:prstGeom>
          <a:solidFill>
            <a:srgbClr val="4C0C1A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DBDEF3C8-21D6-6909-A00C-77E913673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2300" y="3270200"/>
            <a:ext cx="347216" cy="347216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CCDFD64B-796E-9491-16A6-2522D85040E2}"/>
              </a:ext>
            </a:extLst>
          </p:cNvPr>
          <p:cNvSpPr/>
          <p:nvPr/>
        </p:nvSpPr>
        <p:spPr>
          <a:xfrm>
            <a:off x="6760072" y="4074171"/>
            <a:ext cx="3385244" cy="42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Frictionless UX</a:t>
            </a:r>
            <a:endParaRPr lang="en-US" sz="2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A9259D2E-E3FC-A851-44E7-4B6DE759B796}"/>
              </a:ext>
            </a:extLst>
          </p:cNvPr>
          <p:cNvSpPr/>
          <p:nvPr/>
        </p:nvSpPr>
        <p:spPr>
          <a:xfrm>
            <a:off x="6760072" y="4643884"/>
            <a:ext cx="4767708" cy="120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3-second voice note = full financial record. No forms, no dashboards to navigate, no training needed.</a:t>
            </a:r>
            <a:endParaRPr lang="en-US" sz="2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2D9E7EEF-DFCE-4862-BC37-7EBC23F27210}"/>
              </a:ext>
            </a:extLst>
          </p:cNvPr>
          <p:cNvSpPr/>
          <p:nvPr/>
        </p:nvSpPr>
        <p:spPr>
          <a:xfrm>
            <a:off x="12038856" y="2791272"/>
            <a:ext cx="5301108" cy="3323480"/>
          </a:xfrm>
          <a:prstGeom prst="roundRect">
            <a:avLst>
              <a:gd name="adj" fmla="val 3251"/>
            </a:avLst>
          </a:prstGeom>
          <a:solidFill>
            <a:srgbClr val="641022"/>
          </a:solidFill>
          <a:ln w="4763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B7FBB48F-1A5A-B02A-64B6-C16C379690EC}"/>
              </a:ext>
            </a:extLst>
          </p:cNvPr>
          <p:cNvSpPr/>
          <p:nvPr/>
        </p:nvSpPr>
        <p:spPr>
          <a:xfrm>
            <a:off x="12305557" y="3057973"/>
            <a:ext cx="771822" cy="771822"/>
          </a:xfrm>
          <a:prstGeom prst="roundRect">
            <a:avLst>
              <a:gd name="adj" fmla="val 14807633"/>
            </a:avLst>
          </a:prstGeom>
          <a:solidFill>
            <a:srgbClr val="4C0C1A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2FFFC920-38E8-9239-D9A1-26E841E6CD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17784" y="3270200"/>
            <a:ext cx="347216" cy="347216"/>
          </a:xfrm>
          <a:prstGeom prst="rect">
            <a:avLst/>
          </a:prstGeom>
        </p:spPr>
      </p:pic>
      <p:sp>
        <p:nvSpPr>
          <p:cNvPr id="33" name="Text 13">
            <a:extLst>
              <a:ext uri="{FF2B5EF4-FFF2-40B4-BE49-F238E27FC236}">
                <a16:creationId xmlns:a16="http://schemas.microsoft.com/office/drawing/2014/main" id="{8532C553-F6E4-1D19-053A-BBBB36A611E7}"/>
              </a:ext>
            </a:extLst>
          </p:cNvPr>
          <p:cNvSpPr/>
          <p:nvPr/>
        </p:nvSpPr>
        <p:spPr>
          <a:xfrm>
            <a:off x="12305557" y="4074171"/>
            <a:ext cx="4004370" cy="42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Tells You What to Do</a:t>
            </a:r>
            <a:endParaRPr lang="en-US" sz="2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7EC445F7-069A-A834-5C60-290B3EF75AF0}"/>
              </a:ext>
            </a:extLst>
          </p:cNvPr>
          <p:cNvSpPr/>
          <p:nvPr/>
        </p:nvSpPr>
        <p:spPr>
          <a:xfrm>
            <a:off x="12305556" y="4643884"/>
            <a:ext cx="4767708" cy="120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Doesn't just store data — the AI CFO analyzes spending and gives 3 specific weekly recommendations.</a:t>
            </a:r>
            <a:endParaRPr lang="en-US" sz="2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F9F57E77-45F6-138C-AB13-029577C60FA1}"/>
              </a:ext>
            </a:extLst>
          </p:cNvPr>
          <p:cNvSpPr/>
          <p:nvPr/>
        </p:nvSpPr>
        <p:spPr>
          <a:xfrm>
            <a:off x="947886" y="6359128"/>
            <a:ext cx="8073776" cy="2922092"/>
          </a:xfrm>
          <a:prstGeom prst="roundRect">
            <a:avLst>
              <a:gd name="adj" fmla="val 3698"/>
            </a:avLst>
          </a:prstGeom>
          <a:solidFill>
            <a:srgbClr val="641022"/>
          </a:solidFill>
          <a:ln w="4763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E2FCB925-E90B-3FC2-957E-6B551593161A}"/>
              </a:ext>
            </a:extLst>
          </p:cNvPr>
          <p:cNvSpPr/>
          <p:nvPr/>
        </p:nvSpPr>
        <p:spPr>
          <a:xfrm>
            <a:off x="1214587" y="6625829"/>
            <a:ext cx="771822" cy="771822"/>
          </a:xfrm>
          <a:prstGeom prst="roundRect">
            <a:avLst>
              <a:gd name="adj" fmla="val 14807633"/>
            </a:avLst>
          </a:prstGeom>
          <a:solidFill>
            <a:srgbClr val="4C0C1A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07FEA8D3-6913-1404-ECDA-648EBA5AA3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6816" y="6838058"/>
            <a:ext cx="347216" cy="347216"/>
          </a:xfrm>
          <a:prstGeom prst="rect">
            <a:avLst/>
          </a:prstGeom>
        </p:spPr>
      </p:pic>
      <p:sp>
        <p:nvSpPr>
          <p:cNvPr id="38" name="Text 17">
            <a:extLst>
              <a:ext uri="{FF2B5EF4-FFF2-40B4-BE49-F238E27FC236}">
                <a16:creationId xmlns:a16="http://schemas.microsoft.com/office/drawing/2014/main" id="{45A52A6B-6225-B170-5F94-73F354A768C7}"/>
              </a:ext>
            </a:extLst>
          </p:cNvPr>
          <p:cNvSpPr/>
          <p:nvPr/>
        </p:nvSpPr>
        <p:spPr>
          <a:xfrm>
            <a:off x="1214586" y="7642027"/>
            <a:ext cx="3385244" cy="42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Bilingual AI</a:t>
            </a:r>
            <a:endParaRPr lang="en-US" sz="2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236C7FCB-7144-116D-60B3-DDE2B6C1140C}"/>
              </a:ext>
            </a:extLst>
          </p:cNvPr>
          <p:cNvSpPr/>
          <p:nvPr/>
        </p:nvSpPr>
        <p:spPr>
          <a:xfrm>
            <a:off x="1214586" y="8211741"/>
            <a:ext cx="7540376" cy="80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Gemini processes Arabic and English equally — built for the Egyptian SME market from day one.</a:t>
            </a:r>
            <a:endParaRPr lang="en-US" sz="2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E8FA6757-6616-CAD2-896F-D4F89EBC1A3F}"/>
              </a:ext>
            </a:extLst>
          </p:cNvPr>
          <p:cNvSpPr/>
          <p:nvPr/>
        </p:nvSpPr>
        <p:spPr>
          <a:xfrm>
            <a:off x="9266041" y="6359128"/>
            <a:ext cx="8073926" cy="2922092"/>
          </a:xfrm>
          <a:prstGeom prst="roundRect">
            <a:avLst>
              <a:gd name="adj" fmla="val 3698"/>
            </a:avLst>
          </a:prstGeom>
          <a:solidFill>
            <a:srgbClr val="641022"/>
          </a:solidFill>
          <a:ln w="4763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A0EC1146-0EAA-42DE-E9F9-BB82AAA16BC0}"/>
              </a:ext>
            </a:extLst>
          </p:cNvPr>
          <p:cNvSpPr/>
          <p:nvPr/>
        </p:nvSpPr>
        <p:spPr>
          <a:xfrm>
            <a:off x="9532741" y="6625829"/>
            <a:ext cx="771822" cy="771822"/>
          </a:xfrm>
          <a:prstGeom prst="roundRect">
            <a:avLst>
              <a:gd name="adj" fmla="val 14807633"/>
            </a:avLst>
          </a:prstGeom>
          <a:solidFill>
            <a:srgbClr val="4C0C1A"/>
          </a:solidFill>
          <a:ln/>
        </p:spPr>
        <p:txBody>
          <a:bodyPr/>
          <a:lstStyle/>
          <a:p>
            <a:endParaRPr lang="en-US" sz="36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C45971BC-ABB6-1223-8087-50DC8227D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44968" y="6838058"/>
            <a:ext cx="347216" cy="347216"/>
          </a:xfrm>
          <a:prstGeom prst="rect">
            <a:avLst/>
          </a:prstGeom>
        </p:spPr>
      </p:pic>
      <p:sp>
        <p:nvSpPr>
          <p:cNvPr id="43" name="Text 21">
            <a:extLst>
              <a:ext uri="{FF2B5EF4-FFF2-40B4-BE49-F238E27FC236}">
                <a16:creationId xmlns:a16="http://schemas.microsoft.com/office/drawing/2014/main" id="{D66A305B-D05D-B20F-7573-C9A20E32D6F0}"/>
              </a:ext>
            </a:extLst>
          </p:cNvPr>
          <p:cNvSpPr/>
          <p:nvPr/>
        </p:nvSpPr>
        <p:spPr>
          <a:xfrm>
            <a:off x="9532741" y="7642027"/>
            <a:ext cx="3418582" cy="42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00" b="1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Predictive Power</a:t>
            </a:r>
            <a:endParaRPr lang="en-US" sz="2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DBDB7099-461E-06BD-9BAC-9C4DEB47D8CB}"/>
              </a:ext>
            </a:extLst>
          </p:cNvPr>
          <p:cNvSpPr/>
          <p:nvPr/>
        </p:nvSpPr>
        <p:spPr>
          <a:xfrm>
            <a:off x="9532741" y="8211741"/>
            <a:ext cx="7540526" cy="80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b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30-day cash forecasting demonstrates technical maturity and deep understanding of real business needs.</a:t>
            </a:r>
            <a:endParaRPr lang="en-US" sz="2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E544C3A-6934-19E4-4798-B5A35BE4D8FA}"/>
              </a:ext>
            </a:extLst>
          </p:cNvPr>
          <p:cNvSpPr/>
          <p:nvPr/>
        </p:nvSpPr>
        <p:spPr>
          <a:xfrm flipV="1">
            <a:off x="0" y="2095500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3936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6E7FB836-403C-B110-F57F-CD92A1020A0F}"/>
              </a:ext>
            </a:extLst>
          </p:cNvPr>
          <p:cNvSpPr/>
          <p:nvPr/>
        </p:nvSpPr>
        <p:spPr>
          <a:xfrm>
            <a:off x="0" y="0"/>
            <a:ext cx="6858000" cy="10287000"/>
          </a:xfrm>
          <a:prstGeom prst="rect">
            <a:avLst/>
          </a:prstGeom>
          <a:solidFill>
            <a:srgbClr val="590E1E"/>
          </a:solidFill>
          <a:ln/>
        </p:spPr>
        <p:txBody>
          <a:bodyPr/>
          <a:lstStyle/>
          <a:p>
            <a:endParaRPr lang="en-US" sz="360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96CF442-51F7-1061-E3FF-BB1099151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8" y="686991"/>
            <a:ext cx="6684764" cy="8913018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9CBA65C0-6FC2-A56E-294D-9E04300167AF}"/>
              </a:ext>
            </a:extLst>
          </p:cNvPr>
          <p:cNvSpPr/>
          <p:nvPr/>
        </p:nvSpPr>
        <p:spPr>
          <a:xfrm>
            <a:off x="8050858" y="971698"/>
            <a:ext cx="9304140" cy="22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600" i="1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Most businesses fail not because they don't make money — but because they lose track of it.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8912E09F-991E-F45B-B540-169ECCD67B87}"/>
              </a:ext>
            </a:extLst>
          </p:cNvPr>
          <p:cNvSpPr/>
          <p:nvPr/>
        </p:nvSpPr>
        <p:spPr>
          <a:xfrm>
            <a:off x="7791005" y="846980"/>
            <a:ext cx="19050" cy="476696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en-US" sz="44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4CB98ACF-AB03-19B1-12ED-117AC8096BC3}"/>
              </a:ext>
            </a:extLst>
          </p:cNvPr>
          <p:cNvSpPr/>
          <p:nvPr/>
        </p:nvSpPr>
        <p:spPr>
          <a:xfrm>
            <a:off x="7791004" y="1489918"/>
            <a:ext cx="9563992" cy="114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00"/>
              </a:lnSpc>
            </a:pPr>
            <a:r>
              <a:rPr lang="en-US" sz="4000" dirty="0">
                <a:solidFill>
                  <a:srgbClr val="FAEBEB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Exology turns a Telegram message into a 30-day financial roadmap.</a:t>
            </a:r>
            <a:endParaRPr lang="en-US" sz="4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82F9787-AFE1-900C-D2AC-739AD1190E0C}"/>
              </a:ext>
            </a:extLst>
          </p:cNvPr>
          <p:cNvSpPr/>
          <p:nvPr/>
        </p:nvSpPr>
        <p:spPr>
          <a:xfrm>
            <a:off x="9464725" y="2882801"/>
            <a:ext cx="6216550" cy="57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00"/>
              </a:lnSpc>
            </a:pPr>
            <a:r>
              <a:rPr lang="en-US" sz="54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3</a:t>
            </a:r>
            <a:endParaRPr lang="en-US" sz="5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B8EEC57A-CADF-7A6B-7AFB-63DB2B018BD3}"/>
              </a:ext>
            </a:extLst>
          </p:cNvPr>
          <p:cNvSpPr/>
          <p:nvPr/>
        </p:nvSpPr>
        <p:spPr>
          <a:xfrm>
            <a:off x="11432977" y="3624263"/>
            <a:ext cx="2280046" cy="285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0"/>
              </a:lnSpc>
            </a:pPr>
            <a:r>
              <a:rPr lang="en-US" sz="20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Input Types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DC2931B9-554C-0D98-1BDD-B0A1518A6312}"/>
              </a:ext>
            </a:extLst>
          </p:cNvPr>
          <p:cNvSpPr/>
          <p:nvPr/>
        </p:nvSpPr>
        <p:spPr>
          <a:xfrm>
            <a:off x="7791004" y="3975646"/>
            <a:ext cx="9563992" cy="22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Text · Voice · Photo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7C499E5D-2BB6-0311-BFFE-06B43BBEF2C6}"/>
              </a:ext>
            </a:extLst>
          </p:cNvPr>
          <p:cNvSpPr/>
          <p:nvPr/>
        </p:nvSpPr>
        <p:spPr>
          <a:xfrm>
            <a:off x="9464725" y="4511131"/>
            <a:ext cx="6216550" cy="57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00"/>
              </a:lnSpc>
            </a:pPr>
            <a:r>
              <a:rPr lang="en-US" sz="54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11</a:t>
            </a:r>
            <a:endParaRPr lang="en-US" sz="5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6D90A08F-7240-4ECE-8132-C067A384F0BD}"/>
              </a:ext>
            </a:extLst>
          </p:cNvPr>
          <p:cNvSpPr/>
          <p:nvPr/>
        </p:nvSpPr>
        <p:spPr>
          <a:xfrm>
            <a:off x="11432977" y="5252593"/>
            <a:ext cx="2280046" cy="285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0"/>
              </a:lnSpc>
            </a:pPr>
            <a:r>
              <a:rPr lang="en-US" sz="20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Data Fields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FBC2FB6D-EAB2-0694-56E9-61FB7D134B32}"/>
              </a:ext>
            </a:extLst>
          </p:cNvPr>
          <p:cNvSpPr/>
          <p:nvPr/>
        </p:nvSpPr>
        <p:spPr>
          <a:xfrm>
            <a:off x="7791004" y="5603974"/>
            <a:ext cx="9563992" cy="22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Per transaction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DAA082B6-C0EF-95AB-5CA7-30731E16A82D}"/>
              </a:ext>
            </a:extLst>
          </p:cNvPr>
          <p:cNvSpPr/>
          <p:nvPr/>
        </p:nvSpPr>
        <p:spPr>
          <a:xfrm>
            <a:off x="9464725" y="6139459"/>
            <a:ext cx="6216550" cy="57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00"/>
              </a:lnSpc>
            </a:pPr>
            <a:r>
              <a:rPr lang="en-US" sz="54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30</a:t>
            </a:r>
            <a:endParaRPr lang="en-US" sz="5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BBE44229-D01E-7297-E968-91865D737CEF}"/>
              </a:ext>
            </a:extLst>
          </p:cNvPr>
          <p:cNvSpPr/>
          <p:nvPr/>
        </p:nvSpPr>
        <p:spPr>
          <a:xfrm>
            <a:off x="11432977" y="6880921"/>
            <a:ext cx="2280046" cy="285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0"/>
              </a:lnSpc>
            </a:pPr>
            <a:r>
              <a:rPr lang="en-US" sz="20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Day Forecast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06647953-F55A-B49C-1899-35D0E722A1E6}"/>
              </a:ext>
            </a:extLst>
          </p:cNvPr>
          <p:cNvSpPr/>
          <p:nvPr/>
        </p:nvSpPr>
        <p:spPr>
          <a:xfrm>
            <a:off x="7791004" y="7232302"/>
            <a:ext cx="9563992" cy="22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Cash projection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18F65D14-4D8E-FF4A-8E6B-BAD8D3BEE448}"/>
              </a:ext>
            </a:extLst>
          </p:cNvPr>
          <p:cNvSpPr/>
          <p:nvPr/>
        </p:nvSpPr>
        <p:spPr>
          <a:xfrm>
            <a:off x="9464725" y="7767787"/>
            <a:ext cx="6216550" cy="57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00"/>
              </a:lnSpc>
            </a:pPr>
            <a:r>
              <a:rPr lang="en-US" sz="54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100%</a:t>
            </a:r>
            <a:endParaRPr lang="en-US" sz="5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081110C9-0362-668D-692E-8CDCC15E2B02}"/>
              </a:ext>
            </a:extLst>
          </p:cNvPr>
          <p:cNvSpPr/>
          <p:nvPr/>
        </p:nvSpPr>
        <p:spPr>
          <a:xfrm>
            <a:off x="11432977" y="8509249"/>
            <a:ext cx="2280046" cy="285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0"/>
              </a:lnSpc>
            </a:pPr>
            <a:r>
              <a:rPr lang="en-US" sz="2000" dirty="0">
                <a:solidFill>
                  <a:srgbClr val="FFE5E5"/>
                </a:solidFill>
                <a:latin typeface="Poppins" panose="00000500000000000000" pitchFamily="2" charset="0"/>
                <a:ea typeface="Dela Gothic One" pitchFamily="34" charset="-122"/>
                <a:cs typeface="Poppins" panose="00000500000000000000" pitchFamily="2" charset="0"/>
              </a:rPr>
              <a:t>Free Stack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1652742A-85D3-A1DF-E647-5F5737BBC913}"/>
              </a:ext>
            </a:extLst>
          </p:cNvPr>
          <p:cNvSpPr/>
          <p:nvPr/>
        </p:nvSpPr>
        <p:spPr>
          <a:xfrm>
            <a:off x="7791004" y="8860632"/>
            <a:ext cx="9563992" cy="22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FFE5E5"/>
                </a:solidFill>
                <a:latin typeface="Poppins" panose="00000500000000000000" pitchFamily="2" charset="0"/>
                <a:ea typeface="DM Sans" pitchFamily="34" charset="-122"/>
                <a:cs typeface="Poppins" panose="00000500000000000000" pitchFamily="2" charset="0"/>
              </a:rPr>
              <a:t>Gemini · n8n · Sheets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F654294A-FE6C-48FE-851F-AFBCCD07C3B5}"/>
              </a:ext>
            </a:extLst>
          </p:cNvPr>
          <p:cNvSpPr/>
          <p:nvPr/>
        </p:nvSpPr>
        <p:spPr>
          <a:xfrm flipV="1">
            <a:off x="0" y="0"/>
            <a:ext cx="3886200" cy="369570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3B7AD05-36CB-6835-225C-651F645A3130}"/>
              </a:ext>
            </a:extLst>
          </p:cNvPr>
          <p:cNvSpPr/>
          <p:nvPr/>
        </p:nvSpPr>
        <p:spPr>
          <a:xfrm flipV="1">
            <a:off x="15240000" y="3695700"/>
            <a:ext cx="3048000" cy="659130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6569683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252477" y="4533900"/>
            <a:ext cx="11783046" cy="179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65"/>
              </a:lnSpc>
            </a:pPr>
            <a:r>
              <a:rPr lang="en-US" sz="13016" b="1" spc="-546" dirty="0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Thankyou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FC07C20B-4A96-2AFD-63DA-16D424440A73}"/>
              </a:ext>
            </a:extLst>
          </p:cNvPr>
          <p:cNvSpPr/>
          <p:nvPr/>
        </p:nvSpPr>
        <p:spPr>
          <a:xfrm flipV="1">
            <a:off x="0" y="3695700"/>
            <a:ext cx="18288000" cy="0"/>
          </a:xfrm>
          <a:prstGeom prst="line">
            <a:avLst/>
          </a:prstGeom>
          <a:ln w="9525" cap="rnd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714</Words>
  <Application>Microsoft Office PowerPoint</Application>
  <PresentationFormat>Custom</PresentationFormat>
  <Paragraphs>112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Poppins</vt:lpstr>
      <vt:lpstr>Poppins Medium</vt:lpstr>
      <vt:lpstr>Aptos</vt:lpstr>
      <vt:lpstr>Arial</vt:lpstr>
      <vt:lpstr>Arabic Typesetting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Red Simple Modern Data Analysis Presentation</dc:title>
  <dc:creator>ahmed</dc:creator>
  <cp:lastModifiedBy>Mina Magdy Wessa</cp:lastModifiedBy>
  <cp:revision>14</cp:revision>
  <dcterms:created xsi:type="dcterms:W3CDTF">2006-08-16T00:00:00Z</dcterms:created>
  <dcterms:modified xsi:type="dcterms:W3CDTF">2026-05-15T20:40:01Z</dcterms:modified>
  <dc:identifier>DAHJlp9_5pA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E70B6059-4156-4FAC-822B-5E8B7D3188D2</vt:lpwstr>
  </property>
  <property fmtid="{D5CDD505-2E9C-101B-9397-08002B2CF9AE}" pid="3" name="ArticulatePath">
    <vt:lpwstr>White Red Simple Modern Data Analysis Presentation</vt:lpwstr>
  </property>
</Properties>
</file>